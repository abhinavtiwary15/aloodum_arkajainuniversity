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Happiest Health Digital Twin Challenge 2026</a:t>
            </a:r>
          </a:p>
          <a:p>
            <a:pPr>
              <a:defRPr sz="4000" b="1">
                <a:solidFill>
                  <a:srgbClr val="0F172A"/>
                </a:solidFill>
              </a:defRPr>
            </a:pPr>
            <a:r>
              <a:t>NoctTwin</a:t>
            </a:r>
          </a:p>
          <a:p>
            <a:pPr>
              <a:spcAft>
                <a:spcPts val="2400"/>
              </a:spcAft>
              <a:defRPr sz="1800">
                <a:solidFill>
                  <a:srgbClr val="475569"/>
                </a:solidFill>
              </a:defRPr>
            </a:pPr>
            <a:r>
              <a:t>Bedtime Digital Twin for Nocturnal Hypoglycemia Triage &amp; Countermeasure Simulation in Sulfonylurea-Treated Type 2 Diabetes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Team AlooDUM  |  Arka Jain University</a:t>
            </a:r>
          </a:p>
          <a:p>
            <a:pPr>
              <a:spcAft>
                <a:spcPts val="2000"/>
              </a:spcAft>
              <a:defRPr sz="1100">
                <a:solidFill>
                  <a:srgbClr val="475569"/>
                </a:solidFill>
              </a:defRPr>
            </a:pPr>
            <a:r>
              <a:t>Team Members: [Member 1 (Lead), Member 2, Member 3] • Contact: [team@aloodum.edu]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Core Innovations: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 Zero-leakage machine learning risk triage evaluated via patient-grouped 5-fold cross-validation.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 Blended Synchronised Forecaster (tau = 3.305h) beating persistence and historical profiles across 1h, 3h, and 6h.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 Mechanistic two-compartment ODE evaluating what-if bedtime carbohydrate yields and secretagogue scaling.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 Held-out split-conformal uncertainty intervals (+/-26.3 mg/dL at 80% coverage, +/-37.6 mg/dL at 90% coverage).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•  Transparent cold-start policy: automatic fallback to CGM-only Model B and population-average profile on first nights.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COHORT AUDIT &amp; PHENOTYPING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Dataset Realities, Regimen Audit &amp; Artifact Filtration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Shanghai_T2DM Inpatient Dataset (Zhao et al. 2023)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100 hospitalized T2DM patients, 109 sessions, 1,181 valid bedtime nights.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Hospital Inpatient Reality: Standardized meals, reduced ambulation, strictly scheduled sleep.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Compression Artifact Filtration: FreeStyle Libre sensors produce nocturnal dips when slept on.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Primary Clinical Target: &gt;=2 consecutive readings &lt;70 mg/dL between 23:00 and 06:00 (&gt;=30 min duration).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Prevalence: 124 nights (10.5%) across 45 patients; eliminated 24 single-point false compression dips.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Severe Hypoglycemia (&lt;54 mg/dL): 49 nights (4.1% of all monitored nights).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Regimen Audit &amp; Extreme Event Concentration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Canonical Regimen Breakdown (Single Source of Truth):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  - SU without Insulin: 10 patients | 124 nights | 24 events (19.4%)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  - SU with Insulin: 8 patients | 123 nights | 8 events (6.5%)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  - Insulin without SU: 51 patients | 520 nights | 38 events (7.3%)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  - Neither (Metformin/Other): 31 patients | 414 nights | 54 events (13.0%)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Outlier Sensitivity: Top 10% of patients drive 48.4% of all nocturnal lows.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Patient 2066 had 9/13 nights in hypo (69.2%). Excluding Pt 2066 drops SU rate to 13.5%.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</a:defRPr>
            </a:pPr>
            <a:r>
              <a:t>Ethical Stance: Zero claims of '3-fold SU risk'; SU subgroup findings labeled exploratory.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DIGITAL TWIN ENGINE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Twin Architecture: Synchronised Forecast &amp; Mechanistic 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Blended Synchronised Forecaster (tau = 3.305 hours)</a:t>
            </a:r>
          </a:p>
          <a:p>
            <a:pPr>
              <a:spcAft>
                <a:spcPts val="800"/>
              </a:spcAft>
              <a:defRPr sz="1100" b="1">
                <a:solidFill>
                  <a:srgbClr val="0D9488"/>
                </a:solidFill>
              </a:defRPr>
            </a:pPr>
            <a:r>
              <a:t>forecast(t) = profile(t) + (G_bedtime - profile(22:00)) * exp(-t / tau)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Solves Horizon Dilemma: Persistence wins at 1h; Historical Profile wins at 6h.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Blended Forecaster dominates both across all horizons on held-out patients: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  - 1h (23:00): MAE 14.83 mg/dL vs Persistence 18.48 vs Profile 24.62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  - 3h (01:00): MAE 19.35 mg/dL vs Profile 21.69 vs Persistence 31.97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  - 6h (04:00): MAE 16.05 mg/dL vs Profile 17.18 vs Persistence 36.98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All paired difference 95% bootstrap CIs strictly exclude 0.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</a:defRPr>
            </a:pPr>
            <a:r>
              <a:t>Two-Compartment Pharmacodynamic ODE: Snack absorption (k_abs=0.035/min) and SU decay (tau=4.0h) overlay countermeasure deltas.</a:t>
            </a:r>
          </a:p>
        </p:txBody>
      </p:sp>
      <p:pic>
        <p:nvPicPr>
          <p:cNvPr id="5" name="Picture 4" descr="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029200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EMPIRICAL EVALUATION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Model Validation: What Helped and What Did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Primary Benchmark: Nights 1+ (History Available, N=1,081)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Primary Benchmark (Nights 1+, 20 Repeated GroupKFold Runs, N=1,081 nights, 101 events):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Group G (CGM + History): AUROC 0.832 (range 0.824-0.840), AUPRC 0.476 (range 0.417-0.496), Brier 0.065 (range 0.064-0.068).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Group B (CGM-Only): AUROC 0.736 (range 0.707-0.753), AUPRC 0.354 (range 0.252-0.392), Brier 0.073 (range 0.071-0.078).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Paired Advantage: Delta AUROC = +0.097 [+0.051, +0.149], Delta AUPRC = +0.123 [+0.047, +0.191], Delta Brier = -0.008 [-0.014, -0.004] (strictly positive discrimination gains; 95% CIs exclude 0).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Secondary Full Cohort (N=1,181): Group G AUROC 0.838 vs Group B 0.772 (Delta = +0.066 [+0.033, +0.105]).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What Helped Most: Days since last nocturnal low and personal median historical nadir.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What Did Not Help &amp; Cold-Start Findings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Static EHR Labs (Group E): Adding 28 routine admission labs degraded linear model performance (Delta AUPRC = -0.108 [-0.159, -0.025]).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Fingerprint Memorization: Static labs identify patients rather than dynamic nocturnal physiology in small cohorts.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Cold-Start Night 1 Sensitivity: On Night 1 (N=100 nights, 10 events), adding meds/labs gave no measurable benefit over CGM dynamics alone (Group B AUROC 0.813 vs C 0.783 vs D 0.747).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Underpowered Warning: Night 1 analysis is underpowered with only 10 events; product defaults to acute CGM-only Model 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CLINICAL DECISION UTILITY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False-Alarm Burden &amp; Operational Clinical Operating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The Bayes 75% PPV Trap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At 10.5% cohort prevalence, achieving a 75% PPV target mathematically requires a positive likelihood ratio LR+ &gt;= 25.57.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Pushing threshold to 0.475 achieves 78.6% PPV, but collapses sensitivity to 17.7% (missing 82.3% of true nocturnal lows!).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• A screening tool that misses 82% of hypoglycemia events is clinically unsafe for hospital ward triage.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D9488"/>
                </a:solidFill>
              </a:defRPr>
            </a:pPr>
            <a:r>
              <a:t>Operational Recommendation (80% Specificity Operating Point)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Calibrated Bedtime Risk Threshold: 0.12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Sensitivity: 75.0% (intercepts 3 out of every 4 nocturnal lows).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Specificity: 80.0%.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Positive Predictive Value (PPV): 30.6%.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Number-Needed-to-Warn (NNW): 3.27 (one true low per ~3 flagged patients).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Alert Burden: 1.8 alerts per patient-week.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Clinical Utility: Avoids alarm fatigue while creating an effective nocturnal safety net for ward nurses.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CLINICIAN INTERFACE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Product Implementation &amp; Clinical Decision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Production-Grade Full-Stack Decision Support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FastAPI backend (Python 3.11) + React 18, Vite, TypeScript (strict), Tailwind, Apache ECharts.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Screen 1: Bedtime Triage Board: Ranks patients by calibrated risk; toggleable blind prospective mode; cold-start indicators.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Screen 2: Patient Twin View: 24h pre-anchor CGM + Blended Forecaster + Conformal +/-37.6 mg/dL envelope.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Cold-Start Fallback: Patients on Night 0 display 'No personal history yet' badge, population profile, and CGM-only Model B risk.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Interactive What-If Simulation: Sliders for bedtime snack carbs (0-45g) and SU dose scaling (0-100%) overlay simulated trajectory.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Deterministic Clinical Summaries: Zero LLM hallucinations.</a:t>
            </a:r>
          </a:p>
          <a:p>
            <a:pPr>
              <a:spcAft>
                <a:spcPts val="500"/>
              </a:spcAft>
              <a:defRPr sz="1050">
                <a:solidFill>
                  <a:srgbClr val="475569"/>
                </a:solidFill>
              </a:defRPr>
            </a:pPr>
            <a:r>
              <a:t>• Screen 3: Evidence Card: Dynamically loaded model card and cardiac context (QTc literature reference).</a:t>
            </a:r>
          </a:p>
        </p:txBody>
      </p:sp>
      <p:pic>
        <p:nvPicPr>
          <p:cNvPr id="5" name="Picture 4" descr="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32552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SCIENTIFIC INTEGRITY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Assumptions, Limitations &amp; Open Scientific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Key Limitations Transparently Logged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1. Static Regimen Classification: Medications are recorded per-patient at admission, not dynamically per-night.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2. Confounding of History &amp; Compression Posture: History features cannot distinguish true recurrent nocturnal hypoglycemia from habitual sleep posture (sleeping on sensor arm).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3. Unresolved Night 0 Anomaly (Open Question): Night 0 event prevalence is 2.46x higher than subsequent nights (23.0% vs 9.34%). Whether this represents FreeStyle Libre insertion trauma/first-day sensor lag or acute hospital admission disruption remains an unresolved open question.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4. Inpatient Generalizability: Shanghai_T2DM comprises hospitalized inpatients under standard hospital diet. Generalizability to free-living outpatients with variable evening meals and alcohol intake requires external ambulatory validation.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5. Outlier Sensitivity in Small SU Subgroup: 18 total SU patients; 10 SU without insulin. Results are exploratory and sensitive to single outlier patients (e.g., Pt 2066).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6. Non-Validated What-If Countermeasures: Physiological simulations represent hypotheses, not clinically approved intervention plans.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NOCTTWIN  |  FUTURE WORK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Roadmap: Path to Ambulatory Clinical Translation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Team AlooDUM  •  Arka Jain University  •  Happiest Health Digital Twin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Translation Milestones from Academic Prototype to Bedside CDS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</a:defRPr>
            </a:pPr>
            <a:r>
              <a:t>1. Prospective Ambulatory Validation: Multi-center validation on free-living outpatients wearing factory-calibrated sensors (Dexcom G7 / Abbott Libre 3) with wearable accelerometers to separate true hypoglycemia from compression artifacts.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</a:defRPr>
            </a:pPr>
            <a:r>
              <a:t>2. Randomized Bedtime Countermeasure Trial: Clinical trial comparing NoctTwin bedtime snack guidance against standard care, tracking nocturnal lows and morning rebound hyperglycemia.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</a:defRPr>
            </a:pPr>
            <a:r>
              <a:t>3. Concurrent Nocturnal ECG Co-Monitoring: Ingest continuous Holter / patch ECG telemetry to empirically evaluate QTc prolongation (&gt;450ms) during deep nocturnal glucose troughs (&lt;54 mg/dL).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</a:defRPr>
            </a:pPr>
            <a:r>
              <a:t>4. Native EHR / FHIR Integration: Seamless integration into hospital electronic health records to ingest real-time bedside meal logs and bedtime capillary glucose verifications.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</a:defRPr>
            </a:pPr>
            <a:r>
              <a:t>5. Continuous Digital Twin Parameter Learning: Bayesian update of patient absorption (k_abs) and secretagogue sensitivity (E_SU) over sequential nights as personal data accumulates.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