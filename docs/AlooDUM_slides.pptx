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Archivo" panose="020B0604020202020204" charset="0"/>
      <p:regular r:id="rId13"/>
      <p:bold r:id="rId14"/>
    </p:embeddedFont>
    <p:embeddedFont>
      <p:font typeface="Spline Sans Mono" panose="020B060402020202020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8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80120"/>
            <a:ext cx="10566400" cy="453380"/>
          </a:xfrm>
          <a:prstGeom prst="rect">
            <a:avLst/>
          </a:prstGeom>
          <a:noFill/>
          <a:ln/>
        </p:spPr>
        <p:txBody>
          <a:bodyPr wrap="square" lIns="0" tIns="0" rIns="0" bIns="0" rtlCol="0" anchor="t"/>
          <a:lstStyle>
            <a:lvl1pPr marL="0" indent="0" algn="l">
              <a:lnSpc>
                <a:spcPct val="115000"/>
              </a:lnSpc>
              <a:buNone/>
              <a:defRPr lang="en-US" sz="3400" dirty="0">
                <a:solidFill>
                  <a:srgbClr val="0E1330"/>
                </a:solidFill>
                <a:latin typeface="Archivo" pitchFamily="34" charset="0"/>
                <a:ea typeface="Archivo" pitchFamily="34" charset="-122"/>
                <a:cs typeface="Archivo"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2038300"/>
            <a:ext cx="10566400" cy="4006900"/>
          </a:xfrm>
          <a:prstGeom prst="rect">
            <a:avLst/>
          </a:prstGeom>
          <a:noFill/>
          <a:ln/>
        </p:spPr>
        <p:txBody>
          <a:bodyPr wrap="square" lIns="0" tIns="0" rIns="0" bIns="0" rtlCol="0" anchor="t"/>
          <a:lstStyle>
            <a:lvl1pPr marL="0" indent="0" algn="l">
              <a:lnSpc>
                <a:spcPct val="140000"/>
              </a:lnSpc>
              <a:buNone/>
              <a:defRPr lang="en-US" sz="1600" dirty="0">
                <a:solidFill>
                  <a:srgbClr val="0E1330"/>
                </a:solidFill>
                <a:latin typeface="Archivo" pitchFamily="34" charset="0"/>
                <a:ea typeface="Archivo" pitchFamily="34" charset="-122"/>
                <a:cs typeface="Archiv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80120"/>
            <a:ext cx="10566400" cy="453380"/>
          </a:xfrm>
          <a:prstGeom prst="rect">
            <a:avLst/>
          </a:prstGeom>
          <a:noFill/>
          <a:ln/>
        </p:spPr>
        <p:txBody>
          <a:bodyPr wrap="square" lIns="0" tIns="0" rIns="0" bIns="0" rtlCol="0" anchor="t"/>
          <a:lstStyle>
            <a:lvl1pPr marL="0" indent="0" algn="l">
              <a:lnSpc>
                <a:spcPct val="115000"/>
              </a:lnSpc>
              <a:buNone/>
              <a:defRPr lang="en-US" sz="3400" dirty="0">
                <a:solidFill>
                  <a:srgbClr val="0E1330"/>
                </a:solidFill>
                <a:latin typeface="Archivo" pitchFamily="34" charset="0"/>
                <a:ea typeface="Archivo" pitchFamily="34" charset="-122"/>
                <a:cs typeface="Archivo"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2038300"/>
            <a:ext cx="10566400" cy="4006900"/>
          </a:xfrm>
          <a:prstGeom prst="rect">
            <a:avLst/>
          </a:prstGeom>
          <a:noFill/>
          <a:ln/>
        </p:spPr>
        <p:txBody>
          <a:bodyPr wrap="square" lIns="0" tIns="0" rIns="0" bIns="0" rtlCol="0" anchor="t"/>
          <a:lstStyle>
            <a:lvl1pPr marL="0" indent="0" algn="l">
              <a:lnSpc>
                <a:spcPct val="140000"/>
              </a:lnSpc>
              <a:buNone/>
              <a:defRPr lang="en-US" sz="1600" dirty="0">
                <a:solidFill>
                  <a:srgbClr val="0E1330"/>
                </a:solidFill>
                <a:latin typeface="Archivo" pitchFamily="34" charset="0"/>
                <a:ea typeface="Archivo" pitchFamily="34" charset="-122"/>
                <a:cs typeface="Archiv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E4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EF0"/>
                </a:solidFill>
                <a:latin typeface="Spline Sans Mono" pitchFamily="49" charset="0"/>
                <a:ea typeface="Spline Sans Mono" pitchFamily="49" charset="-122"/>
                <a:cs typeface="Spline Sans Mono" pitchFamily="49" charset="-120"/>
              </a:rPr>
              <a:t>Happiest Health Digital Twin Challenge 2026</a:t>
            </a:r>
            <a:endParaRPr lang="en-US" sz="1400" dirty="0"/>
          </a:p>
        </p:txBody>
      </p:sp>
      <p:sp>
        <p:nvSpPr>
          <p:cNvPr id="3" name="Text 1"/>
          <p:cNvSpPr>
            <a:spLocks noGrp="1"/>
          </p:cNvSpPr>
          <p:nvPr>
            <p:ph type="title"/>
          </p:nvPr>
        </p:nvSpPr>
        <p:spPr>
          <a:xfrm>
            <a:off x="812800" y="2403475"/>
            <a:ext cx="10883392" cy="1143000"/>
          </a:xfrm>
          <a:prstGeom prst="rect">
            <a:avLst/>
          </a:prstGeom>
          <a:noFill/>
          <a:ln/>
        </p:spPr>
        <p:txBody>
          <a:bodyPr wrap="square" lIns="0" tIns="0" rIns="0" bIns="0" rtlCol="0" anchor="t">
            <a:normAutofit/>
          </a:bodyPr>
          <a:lstStyle/>
          <a:p>
            <a:pPr marL="0" indent="0" algn="l">
              <a:lnSpc>
                <a:spcPts val="8800"/>
              </a:lnSpc>
              <a:buNone/>
            </a:pPr>
            <a:r>
              <a:rPr lang="en-US" sz="8800" b="1" i="0" kern="0" spc="-395" dirty="0">
                <a:solidFill>
                  <a:srgbClr val="F4F6FB"/>
                </a:solidFill>
                <a:latin typeface="Archivo" pitchFamily="34" charset="0"/>
                <a:ea typeface="Archivo" pitchFamily="34" charset="-122"/>
                <a:cs typeface="Archivo" pitchFamily="34" charset="-120"/>
              </a:rPr>
              <a:t>NoctTwin</a:t>
            </a:r>
            <a:endParaRPr lang="en-US" sz="8800" dirty="0"/>
          </a:p>
        </p:txBody>
      </p:sp>
      <p:sp>
        <p:nvSpPr>
          <p:cNvPr id="4" name="Text 2"/>
          <p:cNvSpPr/>
          <p:nvPr/>
        </p:nvSpPr>
        <p:spPr>
          <a:xfrm>
            <a:off x="812800" y="3724275"/>
            <a:ext cx="8175625" cy="755650"/>
          </a:xfrm>
          <a:prstGeom prst="rect">
            <a:avLst/>
          </a:prstGeom>
          <a:noFill/>
          <a:ln/>
        </p:spPr>
        <p:txBody>
          <a:bodyPr wrap="square" lIns="0" tIns="0" rIns="0" bIns="0" rtlCol="0" anchor="t">
            <a:normAutofit/>
          </a:bodyPr>
          <a:lstStyle/>
          <a:p>
            <a:pPr marL="0" indent="0" algn="l">
              <a:lnSpc>
                <a:spcPts val="2875"/>
              </a:lnSpc>
              <a:buNone/>
            </a:pPr>
            <a:r>
              <a:rPr lang="en-US" sz="2300" dirty="0">
                <a:solidFill>
                  <a:srgbClr val="C9CEF0"/>
                </a:solidFill>
                <a:latin typeface="Archivo" pitchFamily="34" charset="0"/>
                <a:ea typeface="Archivo" pitchFamily="34" charset="-122"/>
                <a:cs typeface="Archivo" pitchFamily="34" charset="-120"/>
              </a:rPr>
              <a:t>A personalised digital twin for nocturnal hypoglycemia in type 2 diabetes</a:t>
            </a:r>
            <a:endParaRPr lang="en-US" sz="2300" dirty="0"/>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a:lnSpc>
                <a:spcPts val="1960"/>
              </a:lnSpc>
            </a:pPr>
            <a:r>
              <a:rPr lang="en-US" sz="1400" dirty="0">
                <a:solidFill>
                  <a:srgbClr val="C9CEF0"/>
                </a:solidFill>
                <a:latin typeface="Spline Sans Mono" pitchFamily="49" charset="0"/>
                <a:ea typeface="Spline Sans Mono" pitchFamily="49" charset="-122"/>
                <a:cs typeface="Spline Sans Mono" pitchFamily="49" charset="-120"/>
              </a:rPr>
              <a:t>Team AlooDUM · Arka Jain University · Abhinav Tiwary · Nivesh Kumar · Kriti Kumari · Bhoomi Singh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The problem</a:t>
            </a:r>
            <a:endParaRPr lang="en-US" sz="1200" dirty="0"/>
          </a:p>
        </p:txBody>
      </p:sp>
      <p:sp>
        <p:nvSpPr>
          <p:cNvPr id="3" name="Text 1"/>
          <p:cNvSpPr>
            <a:spLocks noGrp="1"/>
          </p:cNvSpPr>
          <p:nvPr>
            <p:ph type="title"/>
          </p:nvPr>
        </p:nvSpPr>
        <p:spPr>
          <a:xfrm>
            <a:off x="812800" y="1280120"/>
            <a:ext cx="10883392" cy="478780"/>
          </a:xfrm>
          <a:prstGeom prst="rect">
            <a:avLst/>
          </a:prstGeom>
          <a:noFill/>
          <a:ln/>
        </p:spPr>
        <p:txBody>
          <a:bodyPr wrap="square" lIns="0" tIns="0" rIns="0" bIns="0" rtlCol="0" anchor="t">
            <a:normAutofit/>
          </a:bodyPr>
          <a:lstStyle/>
          <a:p>
            <a:pPr marL="0" indent="0" algn="l">
              <a:lnSpc>
                <a:spcPts val="3570"/>
              </a:lnSpc>
              <a:buNone/>
            </a:pPr>
            <a:r>
              <a:rPr lang="en-US" sz="3400" b="1" i="0" kern="0" spc="-100" dirty="0">
                <a:solidFill>
                  <a:srgbClr val="0E1330"/>
                </a:solidFill>
                <a:latin typeface="Archivo" pitchFamily="34" charset="0"/>
                <a:ea typeface="Archivo" pitchFamily="34" charset="-122"/>
                <a:cs typeface="Archivo" pitchFamily="34" charset="-120"/>
              </a:rPr>
              <a:t>Lows that clinic visits miss</a:t>
            </a:r>
            <a:endParaRPr lang="en-US" sz="3400" dirty="0"/>
          </a:p>
        </p:txBody>
      </p:sp>
      <p:sp>
        <p:nvSpPr>
          <p:cNvPr id="4" name="Text 2"/>
          <p:cNvSpPr/>
          <p:nvPr/>
        </p:nvSpPr>
        <p:spPr>
          <a:xfrm>
            <a:off x="812800" y="1987500"/>
            <a:ext cx="9810750" cy="660400"/>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1B1E4A"/>
                </a:solidFill>
                <a:latin typeface="Archivo" pitchFamily="34" charset="0"/>
                <a:ea typeface="Archivo" pitchFamily="34" charset="-122"/>
                <a:cs typeface="Archivo" pitchFamily="34" charset="-120"/>
              </a:rPr>
              <a:t>A sleeping patient cannot react to falling glucose. A clinic visit sees fasting glucose and HbA1c, not the night in between.</a:t>
            </a:r>
            <a:endParaRPr lang="en-US" sz="2000" dirty="0"/>
          </a:p>
        </p:txBody>
      </p:sp>
      <p:sp>
        <p:nvSpPr>
          <p:cNvPr id="5" name="Shape 3"/>
          <p:cNvSpPr/>
          <p:nvPr/>
        </p:nvSpPr>
        <p:spPr>
          <a:xfrm>
            <a:off x="815975" y="2879675"/>
            <a:ext cx="3380284" cy="1558181"/>
          </a:xfrm>
          <a:prstGeom prst="roundRect">
            <a:avLst>
              <a:gd name="adj" fmla="val 3056"/>
            </a:avLst>
          </a:prstGeom>
          <a:solidFill>
            <a:srgbClr val="FFFFFF"/>
          </a:solidFill>
          <a:ln w="6350">
            <a:solidFill>
              <a:srgbClr val="DDE1EE"/>
            </a:solidFill>
            <a:prstDash val="solid"/>
          </a:ln>
        </p:spPr>
      </p:sp>
      <p:sp>
        <p:nvSpPr>
          <p:cNvPr id="6" name="Text 4"/>
          <p:cNvSpPr/>
          <p:nvPr/>
        </p:nvSpPr>
        <p:spPr>
          <a:xfrm>
            <a:off x="1047750" y="3111450"/>
            <a:ext cx="300423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1330"/>
                </a:solidFill>
                <a:latin typeface="Archivo" pitchFamily="34" charset="0"/>
                <a:ea typeface="Archivo" pitchFamily="34" charset="-122"/>
                <a:cs typeface="Archivo" pitchFamily="34" charset="-120"/>
              </a:rPr>
              <a:t>Silent at night</a:t>
            </a:r>
            <a:endParaRPr lang="en-US" sz="1700" dirty="0"/>
          </a:p>
        </p:txBody>
      </p:sp>
      <p:sp>
        <p:nvSpPr>
          <p:cNvPr id="7" name="Text 5"/>
          <p:cNvSpPr/>
          <p:nvPr/>
        </p:nvSpPr>
        <p:spPr>
          <a:xfrm>
            <a:off x="1047750" y="3459411"/>
            <a:ext cx="300423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3F66"/>
                </a:solidFill>
                <a:latin typeface="Archivo" pitchFamily="34" charset="0"/>
                <a:ea typeface="Archivo" pitchFamily="34" charset="-122"/>
                <a:cs typeface="Archivo" pitchFamily="34" charset="-120"/>
              </a:rPr>
              <a:t>Nocturnal hypoglycemia often goes unnoticed by the patient.</a:t>
            </a:r>
            <a:endParaRPr lang="en-US" sz="1400" dirty="0"/>
          </a:p>
        </p:txBody>
      </p:sp>
      <p:sp>
        <p:nvSpPr>
          <p:cNvPr id="8" name="Shape 6"/>
          <p:cNvSpPr/>
          <p:nvPr/>
        </p:nvSpPr>
        <p:spPr>
          <a:xfrm>
            <a:off x="4405809" y="2879675"/>
            <a:ext cx="3380333" cy="1558181"/>
          </a:xfrm>
          <a:prstGeom prst="roundRect">
            <a:avLst>
              <a:gd name="adj" fmla="val 3056"/>
            </a:avLst>
          </a:prstGeom>
          <a:solidFill>
            <a:srgbClr val="FFFFFF"/>
          </a:solidFill>
          <a:ln w="6350">
            <a:solidFill>
              <a:srgbClr val="DDE1EE"/>
            </a:solidFill>
            <a:prstDash val="solid"/>
          </a:ln>
        </p:spPr>
      </p:sp>
      <p:sp>
        <p:nvSpPr>
          <p:cNvPr id="9" name="Text 7"/>
          <p:cNvSpPr/>
          <p:nvPr/>
        </p:nvSpPr>
        <p:spPr>
          <a:xfrm>
            <a:off x="4637584" y="3111450"/>
            <a:ext cx="300428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1330"/>
                </a:solidFill>
                <a:latin typeface="Archivo" pitchFamily="34" charset="0"/>
                <a:ea typeface="Archivo" pitchFamily="34" charset="-122"/>
                <a:cs typeface="Archivo" pitchFamily="34" charset="-120"/>
              </a:rPr>
              <a:t>Too many readings</a:t>
            </a:r>
            <a:endParaRPr lang="en-US" sz="1700" dirty="0"/>
          </a:p>
        </p:txBody>
      </p:sp>
      <p:sp>
        <p:nvSpPr>
          <p:cNvPr id="10" name="Text 8"/>
          <p:cNvSpPr/>
          <p:nvPr/>
        </p:nvSpPr>
        <p:spPr>
          <a:xfrm>
            <a:off x="4637584" y="3459411"/>
            <a:ext cx="3004287"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3F66"/>
                </a:solidFill>
                <a:latin typeface="Archivo" pitchFamily="34" charset="0"/>
                <a:ea typeface="Archivo" pitchFamily="34" charset="-122"/>
                <a:cs typeface="Archivo" pitchFamily="34" charset="-120"/>
              </a:rPr>
              <a:t>CGM records the night, but thousands of readings are hard to review.</a:t>
            </a:r>
            <a:endParaRPr lang="en-US" sz="1400" dirty="0"/>
          </a:p>
        </p:txBody>
      </p:sp>
      <p:sp>
        <p:nvSpPr>
          <p:cNvPr id="11" name="Shape 9"/>
          <p:cNvSpPr/>
          <p:nvPr/>
        </p:nvSpPr>
        <p:spPr>
          <a:xfrm>
            <a:off x="7995692" y="2879675"/>
            <a:ext cx="3380333" cy="1558181"/>
          </a:xfrm>
          <a:prstGeom prst="roundRect">
            <a:avLst>
              <a:gd name="adj" fmla="val 3056"/>
            </a:avLst>
          </a:prstGeom>
          <a:solidFill>
            <a:srgbClr val="FFFFFF"/>
          </a:solidFill>
          <a:ln w="6350">
            <a:solidFill>
              <a:srgbClr val="DDE1EE"/>
            </a:solidFill>
            <a:prstDash val="solid"/>
          </a:ln>
        </p:spPr>
      </p:sp>
      <p:sp>
        <p:nvSpPr>
          <p:cNvPr id="12" name="Text 10"/>
          <p:cNvSpPr/>
          <p:nvPr/>
        </p:nvSpPr>
        <p:spPr>
          <a:xfrm>
            <a:off x="8227467" y="3111450"/>
            <a:ext cx="300428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1330"/>
                </a:solidFill>
                <a:latin typeface="Archivo" pitchFamily="34" charset="0"/>
                <a:ea typeface="Archivo" pitchFamily="34" charset="-122"/>
                <a:cs typeface="Archivo" pitchFamily="34" charset="-120"/>
              </a:rPr>
              <a:t>A short list</a:t>
            </a:r>
            <a:endParaRPr lang="en-US" sz="1700" dirty="0"/>
          </a:p>
        </p:txBody>
      </p:sp>
      <p:sp>
        <p:nvSpPr>
          <p:cNvPr id="13" name="Text 11"/>
          <p:cNvSpPr/>
          <p:nvPr/>
        </p:nvSpPr>
        <p:spPr>
          <a:xfrm>
            <a:off x="8227467" y="3459411"/>
            <a:ext cx="300428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3F66"/>
                </a:solidFill>
                <a:latin typeface="Archivo" pitchFamily="34" charset="0"/>
                <a:ea typeface="Archivo" pitchFamily="34" charset="-122"/>
                <a:cs typeface="Archivo" pitchFamily="34" charset="-120"/>
              </a:rPr>
              <a:t>A clinician needs to know who is at risk tonight, and why.</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NoctTwin · Team AlooDUM · Arka Jain University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Use case and data</a:t>
            </a:r>
            <a:endParaRPr lang="en-US" sz="1200" dirty="0"/>
          </a:p>
        </p:txBody>
      </p:sp>
      <p:sp>
        <p:nvSpPr>
          <p:cNvPr id="3" name="Text 1"/>
          <p:cNvSpPr>
            <a:spLocks noGrp="1"/>
          </p:cNvSpPr>
          <p:nvPr>
            <p:ph type="title"/>
          </p:nvPr>
        </p:nvSpPr>
        <p:spPr>
          <a:xfrm>
            <a:off x="812800" y="1280120"/>
            <a:ext cx="10883392" cy="478780"/>
          </a:xfrm>
          <a:prstGeom prst="rect">
            <a:avLst/>
          </a:prstGeom>
          <a:noFill/>
          <a:ln/>
        </p:spPr>
        <p:txBody>
          <a:bodyPr wrap="square" lIns="0" tIns="0" rIns="0" bIns="0" rtlCol="0" anchor="t">
            <a:normAutofit/>
          </a:bodyPr>
          <a:lstStyle/>
          <a:p>
            <a:pPr marL="0" indent="0" algn="l">
              <a:lnSpc>
                <a:spcPts val="3570"/>
              </a:lnSpc>
              <a:buNone/>
            </a:pPr>
            <a:r>
              <a:rPr lang="en-US" sz="3400" b="1" i="0" kern="0" spc="-100" dirty="0">
                <a:solidFill>
                  <a:srgbClr val="0E1330"/>
                </a:solidFill>
                <a:latin typeface="Archivo" pitchFamily="34" charset="0"/>
                <a:ea typeface="Archivo" pitchFamily="34" charset="-122"/>
                <a:cs typeface="Archivo" pitchFamily="34" charset="-120"/>
              </a:rPr>
              <a:t>Bedtime risk of a persistent low</a:t>
            </a:r>
            <a:endParaRPr lang="en-US" sz="3400" dirty="0"/>
          </a:p>
        </p:txBody>
      </p:sp>
      <p:sp>
        <p:nvSpPr>
          <p:cNvPr id="4" name="Text 2"/>
          <p:cNvSpPr/>
          <p:nvPr/>
        </p:nvSpPr>
        <p:spPr>
          <a:xfrm>
            <a:off x="812800" y="1987500"/>
            <a:ext cx="113792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3F66"/>
                </a:solidFill>
                <a:latin typeface="Archivo" pitchFamily="34" charset="0"/>
                <a:ea typeface="Archivo" pitchFamily="34" charset="-122"/>
                <a:cs typeface="Archivo" pitchFamily="34" charset="-120"/>
              </a:rPr>
              <a:t>At 22:00, estimate the risk of two or more consecutive CGM readings below 70 mg/dL between 23:00 and 06:00.</a:t>
            </a:r>
            <a:endParaRPr lang="en-US" sz="1500" dirty="0"/>
          </a:p>
        </p:txBody>
      </p:sp>
      <p:sp>
        <p:nvSpPr>
          <p:cNvPr id="5" name="Shape 3"/>
          <p:cNvSpPr/>
          <p:nvPr/>
        </p:nvSpPr>
        <p:spPr>
          <a:xfrm>
            <a:off x="812800" y="2520900"/>
            <a:ext cx="3318917" cy="0"/>
          </a:xfrm>
          <a:prstGeom prst="line">
            <a:avLst/>
          </a:prstGeom>
          <a:noFill/>
          <a:ln w="25400">
            <a:solidFill>
              <a:srgbClr val="1B1E4A"/>
            </a:solidFill>
            <a:prstDash val="solid"/>
          </a:ln>
        </p:spPr>
      </p:sp>
      <p:sp>
        <p:nvSpPr>
          <p:cNvPr id="6" name="Text 4"/>
          <p:cNvSpPr/>
          <p:nvPr/>
        </p:nvSpPr>
        <p:spPr>
          <a:xfrm>
            <a:off x="812800" y="2660600"/>
            <a:ext cx="3418484" cy="685800"/>
          </a:xfrm>
          <a:prstGeom prst="rect">
            <a:avLst/>
          </a:prstGeom>
          <a:noFill/>
          <a:ln/>
        </p:spPr>
        <p:txBody>
          <a:bodyPr wrap="square" lIns="0" tIns="0" rIns="0" bIns="0" rtlCol="0" anchor="t">
            <a:normAutofit/>
          </a:bodyPr>
          <a:lstStyle/>
          <a:p>
            <a:pPr marL="0" indent="0" algn="l">
              <a:lnSpc>
                <a:spcPts val="5200"/>
              </a:lnSpc>
              <a:buNone/>
            </a:pPr>
            <a:r>
              <a:rPr lang="en-US" sz="5200" b="1" kern="0" spc="-210" dirty="0">
                <a:solidFill>
                  <a:srgbClr val="0E1330"/>
                </a:solidFill>
                <a:latin typeface="Archivo" pitchFamily="34" charset="0"/>
                <a:ea typeface="Archivo" pitchFamily="34" charset="-122"/>
                <a:cs typeface="Archivo" pitchFamily="34" charset="-120"/>
              </a:rPr>
              <a:t>100</a:t>
            </a:r>
            <a:endParaRPr lang="en-US" sz="5200" dirty="0"/>
          </a:p>
        </p:txBody>
      </p:sp>
      <p:sp>
        <p:nvSpPr>
          <p:cNvPr id="7" name="Text 5"/>
          <p:cNvSpPr/>
          <p:nvPr/>
        </p:nvSpPr>
        <p:spPr>
          <a:xfrm>
            <a:off x="812800" y="3321000"/>
            <a:ext cx="341848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3F66"/>
                </a:solidFill>
                <a:latin typeface="Archivo" pitchFamily="34" charset="0"/>
                <a:ea typeface="Archivo" pitchFamily="34" charset="-122"/>
                <a:cs typeface="Archivo" pitchFamily="34" charset="-120"/>
              </a:rPr>
              <a:t>hospitalised patients</a:t>
            </a:r>
            <a:endParaRPr lang="en-US" sz="1400" dirty="0"/>
          </a:p>
        </p:txBody>
      </p:sp>
      <p:sp>
        <p:nvSpPr>
          <p:cNvPr id="8" name="Shape 6"/>
          <p:cNvSpPr/>
          <p:nvPr/>
        </p:nvSpPr>
        <p:spPr>
          <a:xfrm>
            <a:off x="4436517" y="2520900"/>
            <a:ext cx="3318966" cy="0"/>
          </a:xfrm>
          <a:prstGeom prst="line">
            <a:avLst/>
          </a:prstGeom>
          <a:noFill/>
          <a:ln w="25400">
            <a:solidFill>
              <a:srgbClr val="1B1E4A"/>
            </a:solidFill>
            <a:prstDash val="solid"/>
          </a:ln>
        </p:spPr>
      </p:sp>
      <p:sp>
        <p:nvSpPr>
          <p:cNvPr id="9" name="Text 7"/>
          <p:cNvSpPr/>
          <p:nvPr/>
        </p:nvSpPr>
        <p:spPr>
          <a:xfrm>
            <a:off x="4436517" y="2660600"/>
            <a:ext cx="3418535" cy="685800"/>
          </a:xfrm>
          <a:prstGeom prst="rect">
            <a:avLst/>
          </a:prstGeom>
          <a:noFill/>
          <a:ln/>
        </p:spPr>
        <p:txBody>
          <a:bodyPr wrap="square" lIns="0" tIns="0" rIns="0" bIns="0" rtlCol="0" anchor="t">
            <a:normAutofit/>
          </a:bodyPr>
          <a:lstStyle/>
          <a:p>
            <a:pPr marL="0" indent="0" algn="l">
              <a:lnSpc>
                <a:spcPts val="5200"/>
              </a:lnSpc>
              <a:buNone/>
            </a:pPr>
            <a:r>
              <a:rPr lang="en-US" sz="5200" b="1" kern="0" spc="-210" dirty="0">
                <a:solidFill>
                  <a:srgbClr val="0E1330"/>
                </a:solidFill>
                <a:latin typeface="Archivo" pitchFamily="34" charset="0"/>
                <a:ea typeface="Archivo" pitchFamily="34" charset="-122"/>
                <a:cs typeface="Archivo" pitchFamily="34" charset="-120"/>
              </a:rPr>
              <a:t>1,181</a:t>
            </a:r>
            <a:endParaRPr lang="en-US" sz="5200" dirty="0"/>
          </a:p>
        </p:txBody>
      </p:sp>
      <p:sp>
        <p:nvSpPr>
          <p:cNvPr id="10" name="Text 8"/>
          <p:cNvSpPr/>
          <p:nvPr/>
        </p:nvSpPr>
        <p:spPr>
          <a:xfrm>
            <a:off x="4436517" y="3321000"/>
            <a:ext cx="3418535"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3F66"/>
                </a:solidFill>
                <a:latin typeface="Archivo" pitchFamily="34" charset="0"/>
                <a:ea typeface="Archivo" pitchFamily="34" charset="-122"/>
                <a:cs typeface="Archivo" pitchFamily="34" charset="-120"/>
              </a:rPr>
              <a:t>patient-nights</a:t>
            </a:r>
            <a:endParaRPr lang="en-US" sz="1400" dirty="0"/>
          </a:p>
        </p:txBody>
      </p:sp>
      <p:sp>
        <p:nvSpPr>
          <p:cNvPr id="11" name="Shape 9"/>
          <p:cNvSpPr/>
          <p:nvPr/>
        </p:nvSpPr>
        <p:spPr>
          <a:xfrm>
            <a:off x="8060283" y="2520900"/>
            <a:ext cx="3318917" cy="0"/>
          </a:xfrm>
          <a:prstGeom prst="line">
            <a:avLst/>
          </a:prstGeom>
          <a:noFill/>
          <a:ln w="25400">
            <a:solidFill>
              <a:srgbClr val="1B1E4A"/>
            </a:solidFill>
            <a:prstDash val="solid"/>
          </a:ln>
        </p:spPr>
      </p:sp>
      <p:sp>
        <p:nvSpPr>
          <p:cNvPr id="12" name="Text 10"/>
          <p:cNvSpPr/>
          <p:nvPr/>
        </p:nvSpPr>
        <p:spPr>
          <a:xfrm>
            <a:off x="8060283" y="2660600"/>
            <a:ext cx="3418484" cy="685800"/>
          </a:xfrm>
          <a:prstGeom prst="rect">
            <a:avLst/>
          </a:prstGeom>
          <a:noFill/>
          <a:ln/>
        </p:spPr>
        <p:txBody>
          <a:bodyPr wrap="square" lIns="0" tIns="0" rIns="0" bIns="0" rtlCol="0" anchor="t">
            <a:normAutofit/>
          </a:bodyPr>
          <a:lstStyle/>
          <a:p>
            <a:pPr marL="0" indent="0" algn="l">
              <a:lnSpc>
                <a:spcPts val="5200"/>
              </a:lnSpc>
              <a:buNone/>
            </a:pPr>
            <a:r>
              <a:rPr lang="en-US" sz="5200" b="1" kern="0" spc="-210" dirty="0">
                <a:solidFill>
                  <a:srgbClr val="0E1330"/>
                </a:solidFill>
                <a:latin typeface="Archivo" pitchFamily="34" charset="0"/>
                <a:ea typeface="Archivo" pitchFamily="34" charset="-122"/>
                <a:cs typeface="Archivo" pitchFamily="34" charset="-120"/>
              </a:rPr>
              <a:t>124</a:t>
            </a:r>
            <a:endParaRPr lang="en-US" sz="5200" dirty="0"/>
          </a:p>
        </p:txBody>
      </p:sp>
      <p:sp>
        <p:nvSpPr>
          <p:cNvPr id="13" name="Text 11"/>
          <p:cNvSpPr/>
          <p:nvPr/>
        </p:nvSpPr>
        <p:spPr>
          <a:xfrm>
            <a:off x="8060283" y="3321000"/>
            <a:ext cx="341848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3F66"/>
                </a:solidFill>
                <a:latin typeface="Archivo" pitchFamily="34" charset="0"/>
                <a:ea typeface="Archivo" pitchFamily="34" charset="-122"/>
                <a:cs typeface="Archivo" pitchFamily="34" charset="-120"/>
              </a:rPr>
              <a:t>persistent lows (10.5%)</a:t>
            </a:r>
            <a:endParaRPr lang="en-US" sz="1400" dirty="0"/>
          </a:p>
        </p:txBody>
      </p:sp>
      <p:sp>
        <p:nvSpPr>
          <p:cNvPr id="14" name="Text 12"/>
          <p:cNvSpPr/>
          <p:nvPr/>
        </p:nvSpPr>
        <p:spPr>
          <a:xfrm>
            <a:off x="812800" y="3823891"/>
            <a:ext cx="10464800" cy="50413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A3F66"/>
                </a:solidFill>
                <a:latin typeface="Archivo" pitchFamily="34" charset="0"/>
                <a:ea typeface="Archivo" pitchFamily="34" charset="-122"/>
                <a:cs typeface="Archivo" pitchFamily="34" charset="-120"/>
              </a:rPr>
              <a:t>ShanghaiT2DM (Zhao et al., Scientific Data, 2023, CC BY 4.0). Dynamic stream: CGM every 15 minutes. Static stream: labs, medications, demographics. Anonymised public data only, in line with the DPDP Act and HIPAA.</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NoctTwin · Team AlooDUM · Arka Jain University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E4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EF0"/>
                </a:solidFill>
                <a:latin typeface="Spline Sans Mono" pitchFamily="49" charset="0"/>
                <a:ea typeface="Spline Sans Mono" pitchFamily="49" charset="-122"/>
                <a:cs typeface="Spline Sans Mono" pitchFamily="49" charset="-120"/>
              </a:rPr>
              <a:t>How the twin works</a:t>
            </a:r>
            <a:endParaRPr lang="en-US" sz="1200" dirty="0"/>
          </a:p>
        </p:txBody>
      </p:sp>
      <p:sp>
        <p:nvSpPr>
          <p:cNvPr id="3" name="Text 1"/>
          <p:cNvSpPr>
            <a:spLocks noGrp="1"/>
          </p:cNvSpPr>
          <p:nvPr>
            <p:ph type="title"/>
          </p:nvPr>
        </p:nvSpPr>
        <p:spPr>
          <a:xfrm>
            <a:off x="812800" y="1280120"/>
            <a:ext cx="10883392" cy="478780"/>
          </a:xfrm>
          <a:prstGeom prst="rect">
            <a:avLst/>
          </a:prstGeom>
          <a:noFill/>
          <a:ln/>
        </p:spPr>
        <p:txBody>
          <a:bodyPr wrap="square" lIns="0" tIns="0" rIns="0" bIns="0" rtlCol="0" anchor="t">
            <a:normAutofit/>
          </a:bodyPr>
          <a:lstStyle/>
          <a:p>
            <a:pPr marL="0" indent="0" algn="l">
              <a:lnSpc>
                <a:spcPts val="3570"/>
              </a:lnSpc>
              <a:buNone/>
            </a:pPr>
            <a:r>
              <a:rPr lang="en-US" sz="3400" b="1" i="0" kern="0" spc="-100" dirty="0">
                <a:solidFill>
                  <a:srgbClr val="F4F6FB"/>
                </a:solidFill>
                <a:latin typeface="Archivo" pitchFamily="34" charset="0"/>
                <a:ea typeface="Archivo" pitchFamily="34" charset="-122"/>
                <a:cs typeface="Archivo" pitchFamily="34" charset="-120"/>
              </a:rPr>
              <a:t>One night, in three moments</a:t>
            </a:r>
            <a:endParaRPr lang="en-US" sz="3400" dirty="0"/>
          </a:p>
        </p:txBody>
      </p:sp>
      <p:sp>
        <p:nvSpPr>
          <p:cNvPr id="4" name="Shape 2"/>
          <p:cNvSpPr/>
          <p:nvPr/>
        </p:nvSpPr>
        <p:spPr>
          <a:xfrm>
            <a:off x="815975" y="1990675"/>
            <a:ext cx="3380284" cy="2066230"/>
          </a:xfrm>
          <a:prstGeom prst="roundRect">
            <a:avLst>
              <a:gd name="adj" fmla="val 2305"/>
            </a:avLst>
          </a:prstGeom>
          <a:solidFill>
            <a:srgbClr val="272B66"/>
          </a:solidFill>
          <a:ln w="6350">
            <a:solidFill>
              <a:srgbClr val="3B407F"/>
            </a:solidFill>
            <a:prstDash val="solid"/>
          </a:ln>
        </p:spPr>
      </p:sp>
      <p:sp>
        <p:nvSpPr>
          <p:cNvPr id="5" name="Text 3"/>
          <p:cNvSpPr/>
          <p:nvPr/>
        </p:nvSpPr>
        <p:spPr>
          <a:xfrm>
            <a:off x="1047750" y="2222450"/>
            <a:ext cx="3004236" cy="482600"/>
          </a:xfrm>
          <a:prstGeom prst="rect">
            <a:avLst/>
          </a:prstGeom>
          <a:noFill/>
          <a:ln/>
        </p:spPr>
        <p:txBody>
          <a:bodyPr wrap="square" lIns="0" tIns="0" rIns="0" bIns="0" rtlCol="0" anchor="t">
            <a:normAutofit/>
          </a:bodyPr>
          <a:lstStyle/>
          <a:p>
            <a:pPr marL="0" indent="0" algn="l">
              <a:lnSpc>
                <a:spcPts val="3600"/>
              </a:lnSpc>
              <a:buNone/>
            </a:pPr>
            <a:r>
              <a:rPr lang="en-US" sz="3600" b="1" kern="0" spc="-110" dirty="0">
                <a:solidFill>
                  <a:srgbClr val="F4F6FB"/>
                </a:solidFill>
                <a:latin typeface="Archivo" pitchFamily="34" charset="0"/>
                <a:ea typeface="Archivo" pitchFamily="34" charset="-122"/>
                <a:cs typeface="Archivo" pitchFamily="34" charset="-120"/>
              </a:rPr>
              <a:t>18:00</a:t>
            </a:r>
            <a:endParaRPr lang="en-US" sz="3600" dirty="0"/>
          </a:p>
        </p:txBody>
      </p:sp>
      <p:sp>
        <p:nvSpPr>
          <p:cNvPr id="6" name="Text 4"/>
          <p:cNvSpPr/>
          <p:nvPr/>
        </p:nvSpPr>
        <p:spPr>
          <a:xfrm>
            <a:off x="1047750" y="2768550"/>
            <a:ext cx="300423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6FB"/>
                </a:solidFill>
                <a:latin typeface="Archivo" pitchFamily="34" charset="0"/>
                <a:ea typeface="Archivo" pitchFamily="34" charset="-122"/>
                <a:cs typeface="Archivo" pitchFamily="34" charset="-120"/>
              </a:rPr>
              <a:t>Learn</a:t>
            </a:r>
            <a:endParaRPr lang="en-US" sz="1800" dirty="0"/>
          </a:p>
        </p:txBody>
      </p:sp>
      <p:sp>
        <p:nvSpPr>
          <p:cNvPr id="7" name="Text 5"/>
          <p:cNvSpPr/>
          <p:nvPr/>
        </p:nvSpPr>
        <p:spPr>
          <a:xfrm>
            <a:off x="1047750" y="3131741"/>
            <a:ext cx="3004236"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EF0"/>
                </a:solidFill>
                <a:latin typeface="Archivo" pitchFamily="34" charset="0"/>
                <a:ea typeface="Archivo" pitchFamily="34" charset="-122"/>
                <a:cs typeface="Archivo" pitchFamily="34" charset="-120"/>
              </a:rPr>
              <a:t>Earlier nights, CGM, medications and labs build a personal overnight profile. Nothing after 22:00 is used.</a:t>
            </a:r>
            <a:endParaRPr lang="en-US" sz="1300" dirty="0"/>
          </a:p>
        </p:txBody>
      </p:sp>
      <p:sp>
        <p:nvSpPr>
          <p:cNvPr id="8" name="Shape 6"/>
          <p:cNvSpPr/>
          <p:nvPr/>
        </p:nvSpPr>
        <p:spPr>
          <a:xfrm>
            <a:off x="4405809" y="1990675"/>
            <a:ext cx="3380333" cy="2066230"/>
          </a:xfrm>
          <a:prstGeom prst="roundRect">
            <a:avLst>
              <a:gd name="adj" fmla="val 2305"/>
            </a:avLst>
          </a:prstGeom>
          <a:solidFill>
            <a:srgbClr val="272B66"/>
          </a:solidFill>
          <a:ln w="6350">
            <a:solidFill>
              <a:srgbClr val="3B407F"/>
            </a:solidFill>
            <a:prstDash val="solid"/>
          </a:ln>
        </p:spPr>
      </p:sp>
      <p:sp>
        <p:nvSpPr>
          <p:cNvPr id="9" name="Text 7"/>
          <p:cNvSpPr/>
          <p:nvPr/>
        </p:nvSpPr>
        <p:spPr>
          <a:xfrm>
            <a:off x="4637584" y="2222450"/>
            <a:ext cx="3004287" cy="482600"/>
          </a:xfrm>
          <a:prstGeom prst="rect">
            <a:avLst/>
          </a:prstGeom>
          <a:noFill/>
          <a:ln/>
        </p:spPr>
        <p:txBody>
          <a:bodyPr wrap="square" lIns="0" tIns="0" rIns="0" bIns="0" rtlCol="0" anchor="t">
            <a:normAutofit/>
          </a:bodyPr>
          <a:lstStyle/>
          <a:p>
            <a:pPr marL="0" indent="0" algn="l">
              <a:lnSpc>
                <a:spcPts val="3600"/>
              </a:lnSpc>
              <a:buNone/>
            </a:pPr>
            <a:r>
              <a:rPr lang="en-US" sz="3600" b="1" kern="0" spc="-110" dirty="0">
                <a:solidFill>
                  <a:srgbClr val="F4F6FB"/>
                </a:solidFill>
                <a:latin typeface="Archivo" pitchFamily="34" charset="0"/>
                <a:ea typeface="Archivo" pitchFamily="34" charset="-122"/>
                <a:cs typeface="Archivo" pitchFamily="34" charset="-120"/>
              </a:rPr>
              <a:t>22:00</a:t>
            </a:r>
            <a:endParaRPr lang="en-US" sz="3600" dirty="0"/>
          </a:p>
        </p:txBody>
      </p:sp>
      <p:sp>
        <p:nvSpPr>
          <p:cNvPr id="10" name="Text 8"/>
          <p:cNvSpPr/>
          <p:nvPr/>
        </p:nvSpPr>
        <p:spPr>
          <a:xfrm>
            <a:off x="4637584" y="2768550"/>
            <a:ext cx="300428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6FB"/>
                </a:solidFill>
                <a:latin typeface="Archivo" pitchFamily="34" charset="0"/>
                <a:ea typeface="Archivo" pitchFamily="34" charset="-122"/>
                <a:cs typeface="Archivo" pitchFamily="34" charset="-120"/>
              </a:rPr>
              <a:t>Synchronise</a:t>
            </a:r>
            <a:endParaRPr lang="en-US" sz="1800" dirty="0"/>
          </a:p>
        </p:txBody>
      </p:sp>
      <p:sp>
        <p:nvSpPr>
          <p:cNvPr id="11" name="Text 9"/>
          <p:cNvSpPr/>
          <p:nvPr/>
        </p:nvSpPr>
        <p:spPr>
          <a:xfrm>
            <a:off x="4637584" y="3131741"/>
            <a:ext cx="3004287"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EF0"/>
                </a:solidFill>
                <a:latin typeface="Archivo" pitchFamily="34" charset="0"/>
                <a:ea typeface="Archivo" pitchFamily="34" charset="-122"/>
                <a:cs typeface="Archivo" pitchFamily="34" charset="-120"/>
              </a:rPr>
              <a:t>The forecast starts from the actual reading, then relaxes toward the patient's own profile.</a:t>
            </a:r>
            <a:endParaRPr lang="en-US" sz="1300" dirty="0"/>
          </a:p>
        </p:txBody>
      </p:sp>
      <p:sp>
        <p:nvSpPr>
          <p:cNvPr id="12" name="Shape 10"/>
          <p:cNvSpPr/>
          <p:nvPr/>
        </p:nvSpPr>
        <p:spPr>
          <a:xfrm>
            <a:off x="7995692" y="1990675"/>
            <a:ext cx="3380333" cy="2066230"/>
          </a:xfrm>
          <a:prstGeom prst="roundRect">
            <a:avLst>
              <a:gd name="adj" fmla="val 2305"/>
            </a:avLst>
          </a:prstGeom>
          <a:solidFill>
            <a:srgbClr val="272B66"/>
          </a:solidFill>
          <a:ln w="6350">
            <a:solidFill>
              <a:srgbClr val="3B407F"/>
            </a:solidFill>
            <a:prstDash val="solid"/>
          </a:ln>
        </p:spPr>
      </p:sp>
      <p:sp>
        <p:nvSpPr>
          <p:cNvPr id="13" name="Text 11"/>
          <p:cNvSpPr/>
          <p:nvPr/>
        </p:nvSpPr>
        <p:spPr>
          <a:xfrm>
            <a:off x="8227467" y="2222450"/>
            <a:ext cx="3145383" cy="482600"/>
          </a:xfrm>
          <a:prstGeom prst="rect">
            <a:avLst/>
          </a:prstGeom>
          <a:noFill/>
          <a:ln/>
        </p:spPr>
        <p:txBody>
          <a:bodyPr wrap="square" lIns="0" tIns="0" rIns="0" bIns="0" rtlCol="0" anchor="t">
            <a:normAutofit/>
          </a:bodyPr>
          <a:lstStyle/>
          <a:p>
            <a:pPr marL="0" indent="0" algn="l">
              <a:lnSpc>
                <a:spcPts val="3600"/>
              </a:lnSpc>
              <a:buNone/>
            </a:pPr>
            <a:r>
              <a:rPr lang="en-US" sz="3600" b="1" kern="0" spc="-110" dirty="0">
                <a:solidFill>
                  <a:srgbClr val="F4F6FB"/>
                </a:solidFill>
                <a:latin typeface="Archivo" pitchFamily="34" charset="0"/>
                <a:ea typeface="Archivo" pitchFamily="34" charset="-122"/>
                <a:cs typeface="Archivo" pitchFamily="34" charset="-120"/>
              </a:rPr>
              <a:t>23:00 to 06:00</a:t>
            </a:r>
            <a:endParaRPr lang="en-US" sz="3600" dirty="0"/>
          </a:p>
        </p:txBody>
      </p:sp>
      <p:sp>
        <p:nvSpPr>
          <p:cNvPr id="14" name="Text 12"/>
          <p:cNvSpPr/>
          <p:nvPr/>
        </p:nvSpPr>
        <p:spPr>
          <a:xfrm>
            <a:off x="8227467" y="2768550"/>
            <a:ext cx="300428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6FB"/>
                </a:solidFill>
                <a:latin typeface="Archivo" pitchFamily="34" charset="0"/>
                <a:ea typeface="Archivo" pitchFamily="34" charset="-122"/>
                <a:cs typeface="Archivo" pitchFamily="34" charset="-120"/>
              </a:rPr>
              <a:t>Estimate and explore</a:t>
            </a:r>
            <a:endParaRPr lang="en-US" sz="1800" dirty="0"/>
          </a:p>
        </p:txBody>
      </p:sp>
      <p:sp>
        <p:nvSpPr>
          <p:cNvPr id="15" name="Text 13"/>
          <p:cNvSpPr/>
          <p:nvPr/>
        </p:nvSpPr>
        <p:spPr>
          <a:xfrm>
            <a:off x="8227467" y="3131741"/>
            <a:ext cx="3004287"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EF0"/>
                </a:solidFill>
                <a:latin typeface="Archivo" pitchFamily="34" charset="0"/>
                <a:ea typeface="Archivo" pitchFamily="34" charset="-122"/>
                <a:cs typeface="Archivo" pitchFamily="34" charset="-120"/>
              </a:rPr>
              <a:t>Calibrated risk, an uncertainty range, and what-if scenarios with assumed effects.</a:t>
            </a:r>
            <a:endParaRPr lang="en-US" sz="1300" dirty="0"/>
          </a:p>
        </p:txBody>
      </p:sp>
      <p:sp>
        <p:nvSpPr>
          <p:cNvPr id="16" name="Text 14"/>
          <p:cNvSpPr/>
          <p:nvPr/>
        </p:nvSpPr>
        <p:spPr>
          <a:xfrm>
            <a:off x="812800" y="4314081"/>
            <a:ext cx="10464800" cy="26476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CEF0"/>
                </a:solidFill>
                <a:latin typeface="Archivo" pitchFamily="34" charset="0"/>
                <a:ea typeface="Archivo" pitchFamily="34" charset="-122"/>
                <a:cs typeface="Archivo" pitchFamily="34" charset="-120"/>
              </a:rPr>
              <a:t>Calibrated logistic regression, validated by patient. Python, scikit-learn, SHAP, FastAPI, React and TypeScript.</a:t>
            </a:r>
            <a:endParaRPr lang="en-US" sz="13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EF0"/>
                </a:solidFill>
                <a:latin typeface="Spline Sans Mono" pitchFamily="49" charset="0"/>
                <a:ea typeface="Spline Sans Mono" pitchFamily="49" charset="-122"/>
                <a:cs typeface="Spline Sans Mono" pitchFamily="49" charset="-120"/>
              </a:rPr>
              <a:t>NoctTwin · Team AlooDUM · Arka Jain University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Result 1</a:t>
            </a:r>
            <a:endParaRPr lang="en-US" sz="1200" dirty="0"/>
          </a:p>
        </p:txBody>
      </p:sp>
      <p:sp>
        <p:nvSpPr>
          <p:cNvPr id="3" name="Text 1"/>
          <p:cNvSpPr>
            <a:spLocks noGrp="1"/>
          </p:cNvSpPr>
          <p:nvPr>
            <p:ph type="title"/>
          </p:nvPr>
        </p:nvSpPr>
        <p:spPr>
          <a:xfrm>
            <a:off x="812800" y="1280120"/>
            <a:ext cx="10883392" cy="478780"/>
          </a:xfrm>
          <a:prstGeom prst="rect">
            <a:avLst/>
          </a:prstGeom>
          <a:noFill/>
          <a:ln/>
        </p:spPr>
        <p:txBody>
          <a:bodyPr wrap="square" lIns="0" tIns="0" rIns="0" bIns="0" rtlCol="0" anchor="t">
            <a:normAutofit/>
          </a:bodyPr>
          <a:lstStyle/>
          <a:p>
            <a:pPr marL="0" indent="0" algn="l">
              <a:lnSpc>
                <a:spcPts val="3570"/>
              </a:lnSpc>
              <a:buNone/>
            </a:pPr>
            <a:r>
              <a:rPr lang="en-US" sz="3400" b="1" i="0" kern="0" spc="-100" dirty="0">
                <a:solidFill>
                  <a:srgbClr val="0E1330"/>
                </a:solidFill>
                <a:latin typeface="Archivo" pitchFamily="34" charset="0"/>
                <a:ea typeface="Archivo" pitchFamily="34" charset="-122"/>
                <a:cs typeface="Archivo" pitchFamily="34" charset="-120"/>
              </a:rPr>
              <a:t>Personal history improves prediction</a:t>
            </a:r>
            <a:endParaRPr lang="en-US" sz="3400" dirty="0"/>
          </a:p>
        </p:txBody>
      </p:sp>
      <p:sp>
        <p:nvSpPr>
          <p:cNvPr id="4" name="Text 2"/>
          <p:cNvSpPr/>
          <p:nvPr/>
        </p:nvSpPr>
        <p:spPr>
          <a:xfrm>
            <a:off x="812800" y="2133550"/>
            <a:ext cx="5700914" cy="774700"/>
          </a:xfrm>
          <a:prstGeom prst="rect">
            <a:avLst/>
          </a:prstGeom>
          <a:noFill/>
          <a:ln/>
        </p:spPr>
        <p:txBody>
          <a:bodyPr wrap="square" lIns="0" tIns="0" rIns="0" bIns="0" rtlCol="0" anchor="t">
            <a:normAutofit/>
          </a:bodyPr>
          <a:lstStyle/>
          <a:p>
            <a:pPr marL="0" indent="0" algn="l">
              <a:lnSpc>
                <a:spcPts val="5900"/>
              </a:lnSpc>
              <a:buNone/>
            </a:pPr>
            <a:r>
              <a:rPr lang="en-US" sz="5900" b="1" kern="0" spc="-235" dirty="0">
                <a:solidFill>
                  <a:srgbClr val="1B1E4A"/>
                </a:solidFill>
                <a:latin typeface="Archivo" pitchFamily="34" charset="0"/>
                <a:ea typeface="Archivo" pitchFamily="34" charset="-122"/>
                <a:cs typeface="Archivo" pitchFamily="34" charset="-120"/>
              </a:rPr>
              <a:t>0.74 → 0.83</a:t>
            </a:r>
            <a:endParaRPr lang="en-US" sz="5900" dirty="0"/>
          </a:p>
        </p:txBody>
      </p:sp>
      <p:sp>
        <p:nvSpPr>
          <p:cNvPr id="5" name="Text 3"/>
          <p:cNvSpPr/>
          <p:nvPr/>
        </p:nvSpPr>
        <p:spPr>
          <a:xfrm>
            <a:off x="812800" y="2984450"/>
            <a:ext cx="570091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3F66"/>
                </a:solidFill>
                <a:latin typeface="Archivo" pitchFamily="34" charset="0"/>
                <a:ea typeface="Archivo" pitchFamily="34" charset="-122"/>
                <a:cs typeface="Archivo" pitchFamily="34" charset="-120"/>
              </a:rPr>
              <a:t>AUROC, CGM alone to CGM plus the patient's earlier nights. Ranges over 20 repeated runs: 0.71 to 0.75, and 0.82 to 0.84. Paired gain +0.10, 95% CI +0.05 to +0.15.</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766768" y="2000200"/>
          <a:ext cx="4612432" cy="1930400"/>
        </p:xfrm>
        <a:graphic>
          <a:graphicData uri="http://schemas.openxmlformats.org/drawingml/2006/table">
            <a:tbl>
              <a:tblPr/>
              <a:tblGrid>
                <a:gridCol w="1537477">
                  <a:extLst>
                    <a:ext uri="{9D8B030D-6E8A-4147-A177-3AD203B41FA5}">
                      <a16:colId xmlns:a16="http://schemas.microsoft.com/office/drawing/2014/main" val="20000"/>
                    </a:ext>
                  </a:extLst>
                </a:gridCol>
                <a:gridCol w="1537477">
                  <a:extLst>
                    <a:ext uri="{9D8B030D-6E8A-4147-A177-3AD203B41FA5}">
                      <a16:colId xmlns:a16="http://schemas.microsoft.com/office/drawing/2014/main" val="20001"/>
                    </a:ext>
                  </a:extLst>
                </a:gridCol>
                <a:gridCol w="1537477">
                  <a:extLst>
                    <a:ext uri="{9D8B030D-6E8A-4147-A177-3AD203B41FA5}">
                      <a16:colId xmlns:a16="http://schemas.microsoft.com/office/drawing/2014/main" val="20002"/>
                    </a:ext>
                  </a:extLst>
                </a:gridCol>
              </a:tblGrid>
              <a:tr h="482600">
                <a:tc>
                  <a:txBody>
                    <a:bodyPr/>
                    <a:lstStyle/>
                    <a:p>
                      <a:pPr marL="0" indent="0">
                        <a:lnSpc>
                          <a:spcPts val="2100"/>
                        </a:lnSpc>
                        <a:buNone/>
                      </a:pPr>
                      <a:r>
                        <a:rPr lang="en-US" sz="1500" b="1" dirty="0">
                          <a:solidFill>
                            <a:srgbClr val="0E1330"/>
                          </a:solidFill>
                          <a:latin typeface="Archivo" pitchFamily="34" charset="0"/>
                          <a:ea typeface="Archivo" pitchFamily="34" charset="-122"/>
                          <a:cs typeface="Archivo" pitchFamily="34" charset="-120"/>
                        </a:rPr>
                        <a:t>Metric</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B7B8BA"/>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B7B8BA"/>
                      </a:solidFill>
                      <a:prstDash val="solid"/>
                      <a:round/>
                      <a:headEnd type="none" w="med" len="med"/>
                      <a:tailEnd type="none" w="med" len="med"/>
                    </a:lnB>
                    <a:solidFill>
                      <a:srgbClr val="E5E6E9"/>
                    </a:solidFill>
                  </a:tcPr>
                </a:tc>
                <a:tc>
                  <a:txBody>
                    <a:bodyPr/>
                    <a:lstStyle/>
                    <a:p>
                      <a:pPr marL="0" indent="0">
                        <a:lnSpc>
                          <a:spcPts val="2100"/>
                        </a:lnSpc>
                        <a:buNone/>
                      </a:pPr>
                      <a:r>
                        <a:rPr lang="en-US" sz="1500" b="1" dirty="0">
                          <a:solidFill>
                            <a:srgbClr val="0E1330"/>
                          </a:solidFill>
                          <a:latin typeface="Archivo" pitchFamily="34" charset="0"/>
                          <a:ea typeface="Archivo" pitchFamily="34" charset="-122"/>
                          <a:cs typeface="Archivo" pitchFamily="34" charset="-120"/>
                        </a:rPr>
                        <a:t>CGM only</a:t>
                      </a:r>
                      <a:endParaRPr lang="en-US" sz="1500" dirty="0">
                        <a:latin typeface="Archivo" charset="0"/>
                        <a:ea typeface="Archivo" charset="0"/>
                        <a:cs typeface="Archivo" charset="0"/>
                      </a:endParaRPr>
                    </a:p>
                  </a:txBody>
                  <a:tcPr marL="152400" marR="152400" marT="101600" marB="101600">
                    <a:lnL w="12700" cap="flat" cmpd="sng" algn="ctr">
                      <a:solidFill>
                        <a:srgbClr val="B7B8BA"/>
                      </a:solidFill>
                      <a:prstDash val="solid"/>
                      <a:round/>
                      <a:headEnd type="none" w="med" len="med"/>
                      <a:tailEnd type="none" w="med" len="med"/>
                    </a:lnL>
                    <a:lnR w="12700" cap="flat" cmpd="sng" algn="ctr">
                      <a:solidFill>
                        <a:srgbClr val="B7B8BA"/>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B7B8BA"/>
                      </a:solidFill>
                      <a:prstDash val="solid"/>
                      <a:round/>
                      <a:headEnd type="none" w="med" len="med"/>
                      <a:tailEnd type="none" w="med" len="med"/>
                    </a:lnB>
                    <a:solidFill>
                      <a:srgbClr val="E5E6E9"/>
                    </a:solidFill>
                  </a:tcPr>
                </a:tc>
                <a:tc>
                  <a:txBody>
                    <a:bodyPr/>
                    <a:lstStyle/>
                    <a:p>
                      <a:pPr marL="0" indent="0">
                        <a:lnSpc>
                          <a:spcPts val="2100"/>
                        </a:lnSpc>
                        <a:buNone/>
                      </a:pPr>
                      <a:r>
                        <a:rPr lang="en-US" sz="1500" b="1" dirty="0">
                          <a:solidFill>
                            <a:srgbClr val="0E1330"/>
                          </a:solidFill>
                          <a:latin typeface="Archivo" pitchFamily="34" charset="0"/>
                          <a:ea typeface="Archivo" pitchFamily="34" charset="-122"/>
                          <a:cs typeface="Archivo" pitchFamily="34" charset="-120"/>
                        </a:rPr>
                        <a:t>With history</a:t>
                      </a:r>
                      <a:endParaRPr lang="en-US" sz="1500" dirty="0">
                        <a:latin typeface="Archivo" charset="0"/>
                        <a:ea typeface="Archivo" charset="0"/>
                        <a:cs typeface="Archivo" charset="0"/>
                      </a:endParaRPr>
                    </a:p>
                  </a:txBody>
                  <a:tcPr marL="152400" marR="152400" marT="101600" marB="101600">
                    <a:lnL w="12700" cap="flat" cmpd="sng" algn="ctr">
                      <a:solidFill>
                        <a:srgbClr val="B7B8BA"/>
                      </a:solidFill>
                      <a:prstDash val="solid"/>
                      <a:round/>
                      <a:headEnd type="none" w="med" len="med"/>
                      <a:tailEnd type="none" w="med" len="med"/>
                    </a:lnL>
                    <a:lnR w="12700" cap="flat" cmpd="sng" algn="ctr">
                      <a:solidFill>
                        <a:srgbClr val="B7B8BA"/>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B7B8BA"/>
                      </a:solidFill>
                      <a:prstDash val="solid"/>
                      <a:round/>
                      <a:headEnd type="none" w="med" len="med"/>
                      <a:tailEnd type="none" w="med" len="med"/>
                    </a:lnB>
                    <a:solidFill>
                      <a:srgbClr val="E5E6E9"/>
                    </a:solidFill>
                  </a:tcPr>
                </a:tc>
                <a:extLst>
                  <a:ext uri="{0D108BD9-81ED-4DB2-BD59-A6C34878D82A}">
                    <a16:rowId xmlns:a16="http://schemas.microsoft.com/office/drawing/2014/main" val="10000"/>
                  </a:ext>
                </a:extLst>
              </a:tr>
              <a:tr h="482600">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AUROC</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B7B8BA"/>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0.74</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B7B8BA"/>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0.83</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B7B8BA"/>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extLst>
                  <a:ext uri="{0D108BD9-81ED-4DB2-BD59-A6C34878D82A}">
                    <a16:rowId xmlns:a16="http://schemas.microsoft.com/office/drawing/2014/main" val="10001"/>
                  </a:ext>
                </a:extLst>
              </a:tr>
              <a:tr h="482600">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AUPRC</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0.35</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0.48</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extLst>
                  <a:ext uri="{0D108BD9-81ED-4DB2-BD59-A6C34878D82A}">
                    <a16:rowId xmlns:a16="http://schemas.microsoft.com/office/drawing/2014/main" val="10002"/>
                  </a:ext>
                </a:extLst>
              </a:tr>
              <a:tr h="482600">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Brier score</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0.073</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0.065</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812800" y="418460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Archivo" pitchFamily="34" charset="0"/>
                <a:ea typeface="Archivo" pitchFamily="34" charset="-122"/>
                <a:cs typeface="Archivo" pitchFamily="34" charset="-120"/>
              </a:rPr>
              <a:t>Nights with earlier history: 1,081 nights, 101 events. Patient-grouped 5-fold validation, 20 seeds. Exploratory, with no external validation.</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NoctTwin · Team AlooDUM · Arka Jain University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Result 2</a:t>
            </a:r>
            <a:endParaRPr lang="en-US" sz="1200" dirty="0"/>
          </a:p>
        </p:txBody>
      </p:sp>
      <p:sp>
        <p:nvSpPr>
          <p:cNvPr id="3" name="Text 1"/>
          <p:cNvSpPr>
            <a:spLocks noGrp="1"/>
          </p:cNvSpPr>
          <p:nvPr>
            <p:ph type="title"/>
          </p:nvPr>
        </p:nvSpPr>
        <p:spPr>
          <a:xfrm>
            <a:off x="812800" y="1280120"/>
            <a:ext cx="10883392" cy="478780"/>
          </a:xfrm>
          <a:prstGeom prst="rect">
            <a:avLst/>
          </a:prstGeom>
          <a:noFill/>
          <a:ln/>
        </p:spPr>
        <p:txBody>
          <a:bodyPr wrap="square" lIns="0" tIns="0" rIns="0" bIns="0" rtlCol="0" anchor="t">
            <a:normAutofit/>
          </a:bodyPr>
          <a:lstStyle/>
          <a:p>
            <a:pPr marL="0" indent="0" algn="l">
              <a:lnSpc>
                <a:spcPts val="3570"/>
              </a:lnSpc>
              <a:buNone/>
            </a:pPr>
            <a:r>
              <a:rPr lang="en-US" sz="3400" b="1" i="0" kern="0" spc="-100" dirty="0">
                <a:solidFill>
                  <a:srgbClr val="0E1330"/>
                </a:solidFill>
                <a:latin typeface="Archivo" pitchFamily="34" charset="0"/>
                <a:ea typeface="Archivo" pitchFamily="34" charset="-122"/>
                <a:cs typeface="Archivo" pitchFamily="34" charset="-120"/>
              </a:rPr>
              <a:t>Forecast error and uncertainty</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00200"/>
          <a:ext cx="5309195" cy="2197100"/>
        </p:xfrm>
        <a:graphic>
          <a:graphicData uri="http://schemas.openxmlformats.org/drawingml/2006/table">
            <a:tbl>
              <a:tblPr/>
              <a:tblGrid>
                <a:gridCol w="1769732">
                  <a:extLst>
                    <a:ext uri="{9D8B030D-6E8A-4147-A177-3AD203B41FA5}">
                      <a16:colId xmlns:a16="http://schemas.microsoft.com/office/drawing/2014/main" val="20000"/>
                    </a:ext>
                  </a:extLst>
                </a:gridCol>
                <a:gridCol w="1769732">
                  <a:extLst>
                    <a:ext uri="{9D8B030D-6E8A-4147-A177-3AD203B41FA5}">
                      <a16:colId xmlns:a16="http://schemas.microsoft.com/office/drawing/2014/main" val="20001"/>
                    </a:ext>
                  </a:extLst>
                </a:gridCol>
                <a:gridCol w="1769732">
                  <a:extLst>
                    <a:ext uri="{9D8B030D-6E8A-4147-A177-3AD203B41FA5}">
                      <a16:colId xmlns:a16="http://schemas.microsoft.com/office/drawing/2014/main" val="20002"/>
                    </a:ext>
                  </a:extLst>
                </a:gridCol>
              </a:tblGrid>
              <a:tr h="749300">
                <a:tc>
                  <a:txBody>
                    <a:bodyPr/>
                    <a:lstStyle/>
                    <a:p>
                      <a:pPr marL="0" indent="0">
                        <a:lnSpc>
                          <a:spcPts val="2100"/>
                        </a:lnSpc>
                        <a:buNone/>
                      </a:pPr>
                      <a:r>
                        <a:rPr lang="en-US" sz="1500" b="1" dirty="0">
                          <a:solidFill>
                            <a:srgbClr val="0E1330"/>
                          </a:solidFill>
                          <a:latin typeface="Archivo" pitchFamily="34" charset="0"/>
                          <a:ea typeface="Archivo" pitchFamily="34" charset="-122"/>
                          <a:cs typeface="Archivo" pitchFamily="34" charset="-120"/>
                        </a:rPr>
                        <a:t>Horizon</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B7B8BA"/>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B7B8BA"/>
                      </a:solidFill>
                      <a:prstDash val="solid"/>
                      <a:round/>
                      <a:headEnd type="none" w="med" len="med"/>
                      <a:tailEnd type="none" w="med" len="med"/>
                    </a:lnB>
                    <a:solidFill>
                      <a:srgbClr val="E5E6E9"/>
                    </a:solidFill>
                  </a:tcPr>
                </a:tc>
                <a:tc>
                  <a:txBody>
                    <a:bodyPr/>
                    <a:lstStyle/>
                    <a:p>
                      <a:pPr marL="0" indent="0">
                        <a:lnSpc>
                          <a:spcPts val="2100"/>
                        </a:lnSpc>
                        <a:buNone/>
                      </a:pPr>
                      <a:r>
                        <a:rPr lang="en-US" sz="1500" b="1" dirty="0">
                          <a:solidFill>
                            <a:srgbClr val="0E1330"/>
                          </a:solidFill>
                          <a:latin typeface="Archivo" pitchFamily="34" charset="0"/>
                          <a:ea typeface="Archivo" pitchFamily="34" charset="-122"/>
                          <a:cs typeface="Archivo" pitchFamily="34" charset="-120"/>
                        </a:rPr>
                        <a:t>Synchronised</a:t>
                      </a:r>
                      <a:endParaRPr lang="en-US" sz="1500" dirty="0">
                        <a:latin typeface="Archivo" charset="0"/>
                        <a:ea typeface="Archivo" charset="0"/>
                        <a:cs typeface="Archivo" charset="0"/>
                      </a:endParaRPr>
                    </a:p>
                  </a:txBody>
                  <a:tcPr marL="152400" marR="152400" marT="101600" marB="101600">
                    <a:lnL w="12700" cap="flat" cmpd="sng" algn="ctr">
                      <a:solidFill>
                        <a:srgbClr val="B7B8BA"/>
                      </a:solidFill>
                      <a:prstDash val="solid"/>
                      <a:round/>
                      <a:headEnd type="none" w="med" len="med"/>
                      <a:tailEnd type="none" w="med" len="med"/>
                    </a:lnL>
                    <a:lnR w="12700" cap="flat" cmpd="sng" algn="ctr">
                      <a:solidFill>
                        <a:srgbClr val="B7B8BA"/>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B7B8BA"/>
                      </a:solidFill>
                      <a:prstDash val="solid"/>
                      <a:round/>
                      <a:headEnd type="none" w="med" len="med"/>
                      <a:tailEnd type="none" w="med" len="med"/>
                    </a:lnB>
                    <a:solidFill>
                      <a:srgbClr val="E5E6E9"/>
                    </a:solidFill>
                  </a:tcPr>
                </a:tc>
                <a:tc>
                  <a:txBody>
                    <a:bodyPr/>
                    <a:lstStyle/>
                    <a:p>
                      <a:pPr marL="0" indent="0">
                        <a:lnSpc>
                          <a:spcPts val="2100"/>
                        </a:lnSpc>
                        <a:buNone/>
                      </a:pPr>
                      <a:r>
                        <a:rPr lang="en-US" sz="1500" b="1" dirty="0">
                          <a:solidFill>
                            <a:srgbClr val="0E1330"/>
                          </a:solidFill>
                          <a:latin typeface="Archivo" pitchFamily="34" charset="0"/>
                          <a:ea typeface="Archivo" pitchFamily="34" charset="-122"/>
                          <a:cs typeface="Archivo" pitchFamily="34" charset="-120"/>
                        </a:rPr>
                        <a:t>Hold bedtime value</a:t>
                      </a:r>
                      <a:endParaRPr lang="en-US" sz="1500" dirty="0">
                        <a:latin typeface="Archivo" charset="0"/>
                        <a:ea typeface="Archivo" charset="0"/>
                        <a:cs typeface="Archivo" charset="0"/>
                      </a:endParaRPr>
                    </a:p>
                  </a:txBody>
                  <a:tcPr marL="152400" marR="152400" marT="101600" marB="101600">
                    <a:lnL w="12700" cap="flat" cmpd="sng" algn="ctr">
                      <a:solidFill>
                        <a:srgbClr val="B7B8BA"/>
                      </a:solidFill>
                      <a:prstDash val="solid"/>
                      <a:round/>
                      <a:headEnd type="none" w="med" len="med"/>
                      <a:tailEnd type="none" w="med" len="med"/>
                    </a:lnL>
                    <a:lnR w="12700" cap="flat" cmpd="sng" algn="ctr">
                      <a:solidFill>
                        <a:srgbClr val="B7B8BA"/>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B7B8BA"/>
                      </a:solidFill>
                      <a:prstDash val="solid"/>
                      <a:round/>
                      <a:headEnd type="none" w="med" len="med"/>
                      <a:tailEnd type="none" w="med" len="med"/>
                    </a:lnB>
                    <a:solidFill>
                      <a:srgbClr val="E5E6E9"/>
                    </a:solidFill>
                  </a:tcPr>
                </a:tc>
                <a:extLst>
                  <a:ext uri="{0D108BD9-81ED-4DB2-BD59-A6C34878D82A}">
                    <a16:rowId xmlns:a16="http://schemas.microsoft.com/office/drawing/2014/main" val="10000"/>
                  </a:ext>
                </a:extLst>
              </a:tr>
              <a:tr h="482600">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1 hour</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B7B8BA"/>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46A38"/>
                          </a:solidFill>
                          <a:latin typeface="Archivo" pitchFamily="34" charset="0"/>
                          <a:ea typeface="Archivo" pitchFamily="34" charset="-122"/>
                          <a:cs typeface="Archivo" pitchFamily="34" charset="-120"/>
                        </a:rPr>
                        <a:t>14.8</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B7B8BA"/>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18.5</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B7B8BA"/>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extLst>
                  <a:ext uri="{0D108BD9-81ED-4DB2-BD59-A6C34878D82A}">
                    <a16:rowId xmlns:a16="http://schemas.microsoft.com/office/drawing/2014/main" val="10001"/>
                  </a:ext>
                </a:extLst>
              </a:tr>
              <a:tr h="482600">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3 hours</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46A38"/>
                          </a:solidFill>
                          <a:latin typeface="Archivo" pitchFamily="34" charset="0"/>
                          <a:ea typeface="Archivo" pitchFamily="34" charset="-122"/>
                          <a:cs typeface="Archivo" pitchFamily="34" charset="-120"/>
                        </a:rPr>
                        <a:t>19.4</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32.0</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extLst>
                  <a:ext uri="{0D108BD9-81ED-4DB2-BD59-A6C34878D82A}">
                    <a16:rowId xmlns:a16="http://schemas.microsoft.com/office/drawing/2014/main" val="10002"/>
                  </a:ext>
                </a:extLst>
              </a:tr>
              <a:tr h="482600">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6 hours</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46A38"/>
                          </a:solidFill>
                          <a:latin typeface="Archivo" pitchFamily="34" charset="0"/>
                          <a:ea typeface="Archivo" pitchFamily="34" charset="-122"/>
                          <a:cs typeface="Archivo" pitchFamily="34" charset="-120"/>
                        </a:rPr>
                        <a:t>16.1</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tc>
                  <a:txBody>
                    <a:bodyPr/>
                    <a:lstStyle/>
                    <a:p>
                      <a:pPr marL="0" indent="0">
                        <a:lnSpc>
                          <a:spcPts val="2100"/>
                        </a:lnSpc>
                        <a:buNone/>
                      </a:pPr>
                      <a:r>
                        <a:rPr lang="en-US" sz="1500" dirty="0">
                          <a:solidFill>
                            <a:srgbClr val="0E1330"/>
                          </a:solidFill>
                          <a:latin typeface="Archivo" pitchFamily="34" charset="0"/>
                          <a:ea typeface="Archivo" pitchFamily="34" charset="-122"/>
                          <a:cs typeface="Archivo" pitchFamily="34" charset="-120"/>
                        </a:rPr>
                        <a:t>37.0</a:t>
                      </a:r>
                      <a:endParaRPr lang="en-US" sz="1500" dirty="0">
                        <a:latin typeface="Archivo" charset="0"/>
                        <a:ea typeface="Archivo" charset="0"/>
                        <a:cs typeface="Archivo" charset="0"/>
                      </a:endParaRPr>
                    </a:p>
                  </a:txBody>
                  <a:tcPr marL="152400" marR="152400" marT="101600" marB="101600">
                    <a:lnL w="12700" cap="flat" cmpd="sng" algn="ctr">
                      <a:solidFill>
                        <a:srgbClr val="C5C6C9"/>
                      </a:solidFill>
                      <a:prstDash val="solid"/>
                      <a:round/>
                      <a:headEnd type="none" w="med" len="med"/>
                      <a:tailEnd type="none" w="med" len="med"/>
                    </a:lnL>
                    <a:lnR w="12700" cap="flat" cmpd="sng" algn="ctr">
                      <a:solidFill>
                        <a:srgbClr val="C5C6C9"/>
                      </a:solidFill>
                      <a:prstDash val="solid"/>
                      <a:round/>
                      <a:headEnd type="none" w="med" len="med"/>
                      <a:tailEnd type="none" w="med" len="med"/>
                    </a:lnR>
                    <a:lnT w="12700" cap="flat" cmpd="sng" algn="ctr">
                      <a:solidFill>
                        <a:srgbClr val="C5C6C9"/>
                      </a:solidFill>
                      <a:prstDash val="solid"/>
                      <a:round/>
                      <a:headEnd type="none" w="med" len="med"/>
                      <a:tailEnd type="none" w="med" len="med"/>
                    </a:lnT>
                    <a:lnB w="12700" cap="flat" cmpd="sng" algn="ctr">
                      <a:solidFill>
                        <a:srgbClr val="C5C6C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4298900"/>
            <a:ext cx="548155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Archivo" pitchFamily="34" charset="0"/>
                <a:ea typeface="Archivo" pitchFamily="34" charset="-122"/>
                <a:cs typeface="Archivo" pitchFamily="34" charset="-120"/>
              </a:rPr>
              <a:t>Mean absolute error, mg/dL. The patient's own average profile is close at 6 hours (17.2).</a:t>
            </a:r>
            <a:endParaRPr lang="en-US" sz="1200" dirty="0"/>
          </a:p>
        </p:txBody>
      </p:sp>
      <p:sp>
        <p:nvSpPr>
          <p:cNvPr id="6" name="Shape 3"/>
          <p:cNvSpPr/>
          <p:nvPr/>
        </p:nvSpPr>
        <p:spPr>
          <a:xfrm>
            <a:off x="6544270" y="1990675"/>
            <a:ext cx="4831755" cy="1189980"/>
          </a:xfrm>
          <a:prstGeom prst="roundRect">
            <a:avLst>
              <a:gd name="adj" fmla="val 4002"/>
            </a:avLst>
          </a:prstGeom>
          <a:solidFill>
            <a:srgbClr val="FFFFFF"/>
          </a:solidFill>
          <a:ln w="6350">
            <a:solidFill>
              <a:srgbClr val="DDE1EE"/>
            </a:solidFill>
            <a:prstDash val="solid"/>
          </a:ln>
        </p:spPr>
      </p:sp>
      <p:sp>
        <p:nvSpPr>
          <p:cNvPr id="7" name="Text 4"/>
          <p:cNvSpPr/>
          <p:nvPr/>
        </p:nvSpPr>
        <p:spPr>
          <a:xfrm>
            <a:off x="6776045" y="2222450"/>
            <a:ext cx="4499251" cy="431800"/>
          </a:xfrm>
          <a:prstGeom prst="rect">
            <a:avLst/>
          </a:prstGeom>
          <a:noFill/>
          <a:ln/>
        </p:spPr>
        <p:txBody>
          <a:bodyPr wrap="square" lIns="0" tIns="0" rIns="0" bIns="0" rtlCol="0" anchor="t">
            <a:normAutofit/>
          </a:bodyPr>
          <a:lstStyle/>
          <a:p>
            <a:pPr marL="0" indent="0" algn="l">
              <a:lnSpc>
                <a:spcPts val="3200"/>
              </a:lnSpc>
              <a:buNone/>
            </a:pPr>
            <a:r>
              <a:rPr lang="en-US" sz="3200" b="1" kern="0" spc="-95" dirty="0">
                <a:solidFill>
                  <a:srgbClr val="1B1E4A"/>
                </a:solidFill>
                <a:latin typeface="Archivo" pitchFamily="34" charset="0"/>
                <a:ea typeface="Archivo" pitchFamily="34" charset="-122"/>
                <a:cs typeface="Archivo" pitchFamily="34" charset="-120"/>
              </a:rPr>
              <a:t>±26 mg/dL</a:t>
            </a:r>
            <a:endParaRPr lang="en-US" sz="3200" dirty="0"/>
          </a:p>
        </p:txBody>
      </p:sp>
      <p:sp>
        <p:nvSpPr>
          <p:cNvPr id="8" name="Text 5"/>
          <p:cNvSpPr/>
          <p:nvPr/>
        </p:nvSpPr>
        <p:spPr>
          <a:xfrm>
            <a:off x="6776045" y="2717750"/>
            <a:ext cx="4499251"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F66"/>
                </a:solidFill>
                <a:latin typeface="Archivo" pitchFamily="34" charset="0"/>
                <a:ea typeface="Archivo" pitchFamily="34" charset="-122"/>
                <a:cs typeface="Archivo" pitchFamily="34" charset="-120"/>
              </a:rPr>
              <a:t>80% range. Held-out coverage 79.9%.</a:t>
            </a:r>
            <a:endParaRPr lang="en-US" sz="1300" dirty="0"/>
          </a:p>
        </p:txBody>
      </p:sp>
      <p:sp>
        <p:nvSpPr>
          <p:cNvPr id="9" name="Shape 6"/>
          <p:cNvSpPr/>
          <p:nvPr/>
        </p:nvSpPr>
        <p:spPr>
          <a:xfrm>
            <a:off x="6544270" y="3339405"/>
            <a:ext cx="4831755" cy="1421110"/>
          </a:xfrm>
          <a:prstGeom prst="roundRect">
            <a:avLst>
              <a:gd name="adj" fmla="val 3351"/>
            </a:avLst>
          </a:prstGeom>
          <a:solidFill>
            <a:srgbClr val="FFFFFF"/>
          </a:solidFill>
          <a:ln w="6350">
            <a:solidFill>
              <a:srgbClr val="DDE1EE"/>
            </a:solidFill>
            <a:prstDash val="solid"/>
          </a:ln>
        </p:spPr>
      </p:sp>
      <p:sp>
        <p:nvSpPr>
          <p:cNvPr id="10" name="Text 7"/>
          <p:cNvSpPr/>
          <p:nvPr/>
        </p:nvSpPr>
        <p:spPr>
          <a:xfrm>
            <a:off x="6776045" y="3571180"/>
            <a:ext cx="4499251" cy="431800"/>
          </a:xfrm>
          <a:prstGeom prst="rect">
            <a:avLst/>
          </a:prstGeom>
          <a:noFill/>
          <a:ln/>
        </p:spPr>
        <p:txBody>
          <a:bodyPr wrap="square" lIns="0" tIns="0" rIns="0" bIns="0" rtlCol="0" anchor="t">
            <a:normAutofit/>
          </a:bodyPr>
          <a:lstStyle/>
          <a:p>
            <a:pPr marL="0" indent="0" algn="l">
              <a:lnSpc>
                <a:spcPts val="3200"/>
              </a:lnSpc>
              <a:buNone/>
            </a:pPr>
            <a:r>
              <a:rPr lang="en-US" sz="3200" b="1" kern="0" spc="-95" dirty="0">
                <a:solidFill>
                  <a:srgbClr val="1B1E4A"/>
                </a:solidFill>
                <a:latin typeface="Archivo" pitchFamily="34" charset="0"/>
                <a:ea typeface="Archivo" pitchFamily="34" charset="-122"/>
                <a:cs typeface="Archivo" pitchFamily="34" charset="-120"/>
              </a:rPr>
              <a:t>±38 mg/dL</a:t>
            </a:r>
            <a:endParaRPr lang="en-US" sz="3200" dirty="0"/>
          </a:p>
        </p:txBody>
      </p:sp>
      <p:sp>
        <p:nvSpPr>
          <p:cNvPr id="11" name="Text 8"/>
          <p:cNvSpPr/>
          <p:nvPr/>
        </p:nvSpPr>
        <p:spPr>
          <a:xfrm>
            <a:off x="6776045" y="4066480"/>
            <a:ext cx="449925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F66"/>
                </a:solidFill>
                <a:latin typeface="Archivo" pitchFamily="34" charset="0"/>
                <a:ea typeface="Archivo" pitchFamily="34" charset="-122"/>
                <a:cs typeface="Archivo" pitchFamily="34" charset="-120"/>
              </a:rPr>
              <a:t>90% range. Held-out coverage 89.8%, lower near the 3-hour mark at 86.3%.</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NoctTwin · Team AlooDUM · Arka Jain University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E4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EF0"/>
                </a:solidFill>
                <a:latin typeface="Spline Sans Mono" pitchFamily="49" charset="0"/>
                <a:ea typeface="Spline Sans Mono" pitchFamily="49" charset="-122"/>
                <a:cs typeface="Spline Sans Mono" pitchFamily="49" charset="-120"/>
              </a:rPr>
              <a:t>Honest findings</a:t>
            </a:r>
            <a:endParaRPr lang="en-US" sz="1200" dirty="0"/>
          </a:p>
        </p:txBody>
      </p:sp>
      <p:sp>
        <p:nvSpPr>
          <p:cNvPr id="3" name="Text 1"/>
          <p:cNvSpPr>
            <a:spLocks noGrp="1"/>
          </p:cNvSpPr>
          <p:nvPr>
            <p:ph type="title"/>
          </p:nvPr>
        </p:nvSpPr>
        <p:spPr>
          <a:xfrm>
            <a:off x="812800" y="1280120"/>
            <a:ext cx="10883392" cy="478780"/>
          </a:xfrm>
          <a:prstGeom prst="rect">
            <a:avLst/>
          </a:prstGeom>
          <a:noFill/>
          <a:ln/>
        </p:spPr>
        <p:txBody>
          <a:bodyPr wrap="square" lIns="0" tIns="0" rIns="0" bIns="0" rtlCol="0" anchor="t">
            <a:normAutofit/>
          </a:bodyPr>
          <a:lstStyle/>
          <a:p>
            <a:pPr marL="0" indent="0" algn="l">
              <a:lnSpc>
                <a:spcPts val="3570"/>
              </a:lnSpc>
              <a:buNone/>
            </a:pPr>
            <a:r>
              <a:rPr lang="en-US" sz="3400" b="1" i="0" kern="0" spc="-100" dirty="0">
                <a:solidFill>
                  <a:srgbClr val="F4F6FB"/>
                </a:solidFill>
                <a:latin typeface="Archivo" pitchFamily="34" charset="0"/>
                <a:ea typeface="Archivo" pitchFamily="34" charset="-122"/>
                <a:cs typeface="Archivo" pitchFamily="34" charset="-120"/>
              </a:rPr>
              <a:t>What did not help, reported as found</a:t>
            </a:r>
            <a:endParaRPr lang="en-US" sz="3400" dirty="0"/>
          </a:p>
        </p:txBody>
      </p:sp>
      <p:sp>
        <p:nvSpPr>
          <p:cNvPr id="4" name="Shape 2"/>
          <p:cNvSpPr/>
          <p:nvPr/>
        </p:nvSpPr>
        <p:spPr>
          <a:xfrm>
            <a:off x="815975" y="1990675"/>
            <a:ext cx="5175250" cy="1309291"/>
          </a:xfrm>
          <a:prstGeom prst="roundRect">
            <a:avLst>
              <a:gd name="adj" fmla="val 3637"/>
            </a:avLst>
          </a:prstGeom>
          <a:solidFill>
            <a:srgbClr val="272B66"/>
          </a:solidFill>
          <a:ln w="6350">
            <a:solidFill>
              <a:srgbClr val="3B407F"/>
            </a:solidFill>
            <a:prstDash val="solid"/>
          </a:ln>
        </p:spPr>
      </p:sp>
      <p:sp>
        <p:nvSpPr>
          <p:cNvPr id="5" name="Text 3"/>
          <p:cNvSpPr/>
          <p:nvPr/>
        </p:nvSpPr>
        <p:spPr>
          <a:xfrm>
            <a:off x="1047750" y="2222450"/>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6FB"/>
                </a:solidFill>
                <a:latin typeface="Archivo" pitchFamily="34" charset="0"/>
                <a:ea typeface="Archivo" pitchFamily="34" charset="-122"/>
                <a:cs typeface="Archivo" pitchFamily="34" charset="-120"/>
              </a:rPr>
              <a:t>Static data</a:t>
            </a:r>
            <a:endParaRPr lang="en-US" sz="1700" dirty="0"/>
          </a:p>
        </p:txBody>
      </p:sp>
      <p:sp>
        <p:nvSpPr>
          <p:cNvPr id="6" name="Text 4"/>
          <p:cNvSpPr/>
          <p:nvPr/>
        </p:nvSpPr>
        <p:spPr>
          <a:xfrm>
            <a:off x="1047750" y="2570411"/>
            <a:ext cx="4853051"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EF0"/>
                </a:solidFill>
                <a:latin typeface="Archivo" pitchFamily="34" charset="0"/>
                <a:ea typeface="Archivo" pitchFamily="34" charset="-122"/>
                <a:cs typeface="Archivo" pitchFamily="34" charset="-120"/>
              </a:rPr>
              <a:t>Labs, demographics and medication tags added no measurable gain over CGM and history.</a:t>
            </a:r>
            <a:endParaRPr lang="en-US" sz="1400" dirty="0"/>
          </a:p>
        </p:txBody>
      </p:sp>
      <p:sp>
        <p:nvSpPr>
          <p:cNvPr id="7" name="Shape 5"/>
          <p:cNvSpPr/>
          <p:nvPr/>
        </p:nvSpPr>
        <p:spPr>
          <a:xfrm>
            <a:off x="6200775" y="1990675"/>
            <a:ext cx="5175250" cy="1309291"/>
          </a:xfrm>
          <a:prstGeom prst="roundRect">
            <a:avLst>
              <a:gd name="adj" fmla="val 3637"/>
            </a:avLst>
          </a:prstGeom>
          <a:solidFill>
            <a:srgbClr val="272B66"/>
          </a:solidFill>
          <a:ln w="6350">
            <a:solidFill>
              <a:srgbClr val="3B407F"/>
            </a:solidFill>
            <a:prstDash val="solid"/>
          </a:ln>
        </p:spPr>
      </p:sp>
      <p:sp>
        <p:nvSpPr>
          <p:cNvPr id="8" name="Text 6"/>
          <p:cNvSpPr/>
          <p:nvPr/>
        </p:nvSpPr>
        <p:spPr>
          <a:xfrm>
            <a:off x="6432550" y="2222450"/>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6FB"/>
                </a:solidFill>
                <a:latin typeface="Archivo" pitchFamily="34" charset="0"/>
                <a:ea typeface="Archivo" pitchFamily="34" charset="-122"/>
                <a:cs typeface="Archivo" pitchFamily="34" charset="-120"/>
              </a:rPr>
              <a:t>First-night anomaly</a:t>
            </a:r>
            <a:endParaRPr lang="en-US" sz="1700" dirty="0"/>
          </a:p>
        </p:txBody>
      </p:sp>
      <p:sp>
        <p:nvSpPr>
          <p:cNvPr id="9" name="Text 7"/>
          <p:cNvSpPr/>
          <p:nvPr/>
        </p:nvSpPr>
        <p:spPr>
          <a:xfrm>
            <a:off x="6432550" y="2570411"/>
            <a:ext cx="4853051"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EF0"/>
                </a:solidFill>
                <a:latin typeface="Archivo" pitchFamily="34" charset="0"/>
                <a:ea typeface="Archivo" pitchFamily="34" charset="-122"/>
                <a:cs typeface="Archivo" pitchFamily="34" charset="-120"/>
              </a:rPr>
              <a:t>23.0% of first nights had a low, against 9.3% later. The cause is unresolved.</a:t>
            </a:r>
            <a:endParaRPr lang="en-US" sz="1400" dirty="0"/>
          </a:p>
        </p:txBody>
      </p:sp>
      <p:sp>
        <p:nvSpPr>
          <p:cNvPr id="10" name="Shape 8"/>
          <p:cNvSpPr/>
          <p:nvPr/>
        </p:nvSpPr>
        <p:spPr>
          <a:xfrm>
            <a:off x="815975" y="3509516"/>
            <a:ext cx="5175250" cy="1060400"/>
          </a:xfrm>
          <a:prstGeom prst="roundRect">
            <a:avLst>
              <a:gd name="adj" fmla="val 4491"/>
            </a:avLst>
          </a:prstGeom>
          <a:solidFill>
            <a:srgbClr val="272B66"/>
          </a:solidFill>
          <a:ln w="6350">
            <a:solidFill>
              <a:srgbClr val="3B407F"/>
            </a:solidFill>
            <a:prstDash val="solid"/>
          </a:ln>
        </p:spPr>
      </p:sp>
      <p:sp>
        <p:nvSpPr>
          <p:cNvPr id="11" name="Text 9"/>
          <p:cNvSpPr/>
          <p:nvPr/>
        </p:nvSpPr>
        <p:spPr>
          <a:xfrm>
            <a:off x="1047750" y="3741291"/>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6FB"/>
                </a:solidFill>
                <a:latin typeface="Archivo" pitchFamily="34" charset="0"/>
                <a:ea typeface="Archivo" pitchFamily="34" charset="-122"/>
                <a:cs typeface="Archivo" pitchFamily="34" charset="-120"/>
              </a:rPr>
              <a:t>Concentrated events</a:t>
            </a:r>
            <a:endParaRPr lang="en-US" sz="1700" dirty="0"/>
          </a:p>
        </p:txBody>
      </p:sp>
      <p:sp>
        <p:nvSpPr>
          <p:cNvPr id="12" name="Text 10"/>
          <p:cNvSpPr/>
          <p:nvPr/>
        </p:nvSpPr>
        <p:spPr>
          <a:xfrm>
            <a:off x="1047750" y="4089251"/>
            <a:ext cx="485305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EF0"/>
                </a:solidFill>
                <a:latin typeface="Archivo" pitchFamily="34" charset="0"/>
                <a:ea typeface="Archivo" pitchFamily="34" charset="-122"/>
                <a:cs typeface="Archivo" pitchFamily="34" charset="-120"/>
              </a:rPr>
              <a:t>10% of patients hold 48% of the persistent lows.</a:t>
            </a:r>
            <a:endParaRPr lang="en-US" sz="1400" dirty="0"/>
          </a:p>
        </p:txBody>
      </p:sp>
      <p:sp>
        <p:nvSpPr>
          <p:cNvPr id="13" name="Shape 11"/>
          <p:cNvSpPr/>
          <p:nvPr/>
        </p:nvSpPr>
        <p:spPr>
          <a:xfrm>
            <a:off x="6200775" y="3509516"/>
            <a:ext cx="5175250" cy="1060400"/>
          </a:xfrm>
          <a:prstGeom prst="roundRect">
            <a:avLst>
              <a:gd name="adj" fmla="val 4491"/>
            </a:avLst>
          </a:prstGeom>
          <a:solidFill>
            <a:srgbClr val="272B66"/>
          </a:solidFill>
          <a:ln w="6350">
            <a:solidFill>
              <a:srgbClr val="3B407F"/>
            </a:solidFill>
            <a:prstDash val="solid"/>
          </a:ln>
        </p:spPr>
      </p:sp>
      <p:sp>
        <p:nvSpPr>
          <p:cNvPr id="14" name="Text 12"/>
          <p:cNvSpPr/>
          <p:nvPr/>
        </p:nvSpPr>
        <p:spPr>
          <a:xfrm>
            <a:off x="6432550" y="3741291"/>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6FB"/>
                </a:solidFill>
                <a:latin typeface="Archivo" pitchFamily="34" charset="0"/>
                <a:ea typeface="Archivo" pitchFamily="34" charset="-122"/>
                <a:cs typeface="Archivo" pitchFamily="34" charset="-120"/>
              </a:rPr>
              <a:t>Sulfonylurea subgroup</a:t>
            </a:r>
            <a:endParaRPr lang="en-US" sz="1700" dirty="0"/>
          </a:p>
        </p:txBody>
      </p:sp>
      <p:sp>
        <p:nvSpPr>
          <p:cNvPr id="15" name="Text 13"/>
          <p:cNvSpPr/>
          <p:nvPr/>
        </p:nvSpPr>
        <p:spPr>
          <a:xfrm>
            <a:off x="6432550" y="4089251"/>
            <a:ext cx="485305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EF0"/>
                </a:solidFill>
                <a:latin typeface="Archivo" pitchFamily="34" charset="0"/>
                <a:ea typeface="Archivo" pitchFamily="34" charset="-122"/>
                <a:cs typeface="Archivo" pitchFamily="34" charset="-120"/>
              </a:rPr>
              <a:t>Exploratory: 18 patients, 11 with events. No causal claim.</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EF0"/>
                </a:solidFill>
                <a:latin typeface="Spline Sans Mono" pitchFamily="49" charset="0"/>
                <a:ea typeface="Spline Sans Mono" pitchFamily="49" charset="-122"/>
                <a:cs typeface="Spline Sans Mono" pitchFamily="49" charset="-120"/>
              </a:rPr>
              <a:t>NoctTwin · Team AlooDUM · Arka Jain University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Clinical meaning</a:t>
            </a:r>
            <a:endParaRPr lang="en-US" sz="1200" dirty="0"/>
          </a:p>
        </p:txBody>
      </p:sp>
      <p:sp>
        <p:nvSpPr>
          <p:cNvPr id="3" name="Text 1"/>
          <p:cNvSpPr>
            <a:spLocks noGrp="1"/>
          </p:cNvSpPr>
          <p:nvPr>
            <p:ph type="title"/>
          </p:nvPr>
        </p:nvSpPr>
        <p:spPr>
          <a:xfrm>
            <a:off x="812800" y="1280120"/>
            <a:ext cx="10883392" cy="478780"/>
          </a:xfrm>
          <a:prstGeom prst="rect">
            <a:avLst/>
          </a:prstGeom>
          <a:noFill/>
          <a:ln/>
        </p:spPr>
        <p:txBody>
          <a:bodyPr wrap="square" lIns="0" tIns="0" rIns="0" bIns="0" rtlCol="0" anchor="t">
            <a:normAutofit/>
          </a:bodyPr>
          <a:lstStyle/>
          <a:p>
            <a:pPr marL="0" indent="0" algn="l">
              <a:lnSpc>
                <a:spcPts val="3570"/>
              </a:lnSpc>
              <a:buNone/>
            </a:pPr>
            <a:r>
              <a:rPr lang="en-US" sz="3400" b="1" i="0" kern="0" spc="-100" dirty="0">
                <a:solidFill>
                  <a:srgbClr val="0E1330"/>
                </a:solidFill>
                <a:latin typeface="Archivo" pitchFamily="34" charset="0"/>
                <a:ea typeface="Archivo" pitchFamily="34" charset="-122"/>
                <a:cs typeface="Archivo" pitchFamily="34" charset="-120"/>
              </a:rPr>
              <a:t>Alert burden</a:t>
            </a:r>
            <a:endParaRPr lang="en-US" sz="3400" dirty="0"/>
          </a:p>
        </p:txBody>
      </p:sp>
      <p:sp>
        <p:nvSpPr>
          <p:cNvPr id="4" name="Text 2"/>
          <p:cNvSpPr/>
          <p:nvPr/>
        </p:nvSpPr>
        <p:spPr>
          <a:xfrm>
            <a:off x="812800" y="2160786"/>
            <a:ext cx="5232400" cy="1143000"/>
          </a:xfrm>
          <a:prstGeom prst="rect">
            <a:avLst/>
          </a:prstGeom>
          <a:noFill/>
          <a:ln/>
        </p:spPr>
        <p:txBody>
          <a:bodyPr wrap="square" lIns="0" tIns="0" rIns="0" bIns="0" rtlCol="0" anchor="t">
            <a:normAutofit/>
          </a:bodyPr>
          <a:lstStyle/>
          <a:p>
            <a:pPr marL="0" indent="0" algn="l">
              <a:lnSpc>
                <a:spcPts val="8800"/>
              </a:lnSpc>
              <a:buNone/>
            </a:pPr>
            <a:r>
              <a:rPr lang="en-US" sz="8800" b="1" kern="0" spc="-395" dirty="0">
                <a:solidFill>
                  <a:srgbClr val="1B1E4A"/>
                </a:solidFill>
                <a:latin typeface="Archivo" pitchFamily="34" charset="0"/>
                <a:ea typeface="Archivo" pitchFamily="34" charset="-122"/>
                <a:cs typeface="Archivo" pitchFamily="34" charset="-120"/>
              </a:rPr>
              <a:t>1 in 3</a:t>
            </a:r>
            <a:endParaRPr lang="en-US" sz="8800" dirty="0"/>
          </a:p>
        </p:txBody>
      </p:sp>
      <p:sp>
        <p:nvSpPr>
          <p:cNvPr id="5" name="Text 3"/>
          <p:cNvSpPr/>
          <p:nvPr/>
        </p:nvSpPr>
        <p:spPr>
          <a:xfrm>
            <a:off x="812800" y="3354586"/>
            <a:ext cx="5232400" cy="608310"/>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3A3F66"/>
                </a:solidFill>
                <a:latin typeface="Archivo" pitchFamily="34" charset="0"/>
                <a:ea typeface="Archivo" pitchFamily="34" charset="-122"/>
                <a:cs typeface="Archivo" pitchFamily="34" charset="-120"/>
              </a:rPr>
              <a:t>alerts is a true persistent low at 80% specificity, with about 1.8 alerts per patient-week.</a:t>
            </a:r>
            <a:endParaRPr lang="en-US" sz="1700" dirty="0"/>
          </a:p>
        </p:txBody>
      </p:sp>
      <p:sp>
        <p:nvSpPr>
          <p:cNvPr id="6" name="Text 4"/>
          <p:cNvSpPr/>
          <p:nvPr/>
        </p:nvSpPr>
        <p:spPr>
          <a:xfrm>
            <a:off x="6302375" y="1990675"/>
            <a:ext cx="5073650" cy="979091"/>
          </a:xfrm>
          <a:prstGeom prst="roundRect">
            <a:avLst>
              <a:gd name="adj" fmla="val 4864"/>
            </a:avLst>
          </a:prstGeom>
          <a:solidFill>
            <a:srgbClr val="FFFFFF"/>
          </a:solidFill>
          <a:ln w="6350">
            <a:solidFill>
              <a:srgbClr val="DDE1EE"/>
            </a:solidFill>
            <a:prstDash val="solid"/>
          </a:ln>
        </p:spPr>
        <p:txBody>
          <a:bodyPr wrap="square" lIns="217826" tIns="217826" rIns="79523" bIns="192426" rtlCol="0" anchor="t">
            <a:normAutofit/>
          </a:bodyPr>
          <a:lstStyle/>
          <a:p>
            <a:pPr marL="0" indent="0" algn="l">
              <a:lnSpc>
                <a:spcPts val="2030"/>
              </a:lnSpc>
              <a:buNone/>
            </a:pPr>
            <a:r>
              <a:rPr lang="en-US" sz="1400" dirty="0">
                <a:solidFill>
                  <a:srgbClr val="3A3F66"/>
                </a:solidFill>
                <a:latin typeface="Archivo" pitchFamily="34" charset="0"/>
                <a:ea typeface="Archivo" pitchFamily="34" charset="-122"/>
                <a:cs typeface="Archivo" pitchFamily="34" charset="-120"/>
              </a:rPr>
              <a:t>A precision of 75% is out of reach at safe sensitivity when the event rate is 10.5%.</a:t>
            </a:r>
            <a:endParaRPr lang="en-US" sz="1400" dirty="0"/>
          </a:p>
        </p:txBody>
      </p:sp>
      <p:sp>
        <p:nvSpPr>
          <p:cNvPr id="7" name="Text 5"/>
          <p:cNvSpPr/>
          <p:nvPr/>
        </p:nvSpPr>
        <p:spPr>
          <a:xfrm>
            <a:off x="6302375" y="3128516"/>
            <a:ext cx="5073650" cy="979091"/>
          </a:xfrm>
          <a:prstGeom prst="roundRect">
            <a:avLst>
              <a:gd name="adj" fmla="val 4864"/>
            </a:avLst>
          </a:prstGeom>
          <a:solidFill>
            <a:srgbClr val="FFFFFF"/>
          </a:solidFill>
          <a:ln w="6350">
            <a:solidFill>
              <a:srgbClr val="DDE1EE"/>
            </a:solidFill>
            <a:prstDash val="solid"/>
          </a:ln>
        </p:spPr>
        <p:txBody>
          <a:bodyPr wrap="square" lIns="217826" tIns="217826" rIns="79523" bIns="192426" rtlCol="0" anchor="t">
            <a:normAutofit/>
          </a:bodyPr>
          <a:lstStyle/>
          <a:p>
            <a:pPr marL="0" indent="0" algn="l">
              <a:lnSpc>
                <a:spcPts val="2030"/>
              </a:lnSpc>
              <a:buNone/>
            </a:pPr>
            <a:r>
              <a:rPr lang="en-US" sz="1400" dirty="0">
                <a:solidFill>
                  <a:srgbClr val="0E1330"/>
                </a:solidFill>
                <a:latin typeface="Archivo" pitchFamily="34" charset="0"/>
                <a:ea typeface="Archivo" pitchFamily="34" charset="-122"/>
                <a:cs typeface="Archivo" pitchFamily="34" charset="-120"/>
              </a:rPr>
              <a:t>NoctTwin is a screening and prioritisation aid, not a diagnostic device.</a:t>
            </a:r>
            <a:endParaRPr lang="en-US" sz="14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NoctTwin · Team AlooDUM · Arka Jain University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The clinician's view</a:t>
            </a:r>
            <a:endParaRPr lang="en-US" sz="1200" dirty="0"/>
          </a:p>
        </p:txBody>
      </p:sp>
      <p:sp>
        <p:nvSpPr>
          <p:cNvPr id="3" name="Text 1"/>
          <p:cNvSpPr>
            <a:spLocks noGrp="1"/>
          </p:cNvSpPr>
          <p:nvPr>
            <p:ph type="title"/>
          </p:nvPr>
        </p:nvSpPr>
        <p:spPr>
          <a:xfrm>
            <a:off x="812800" y="1280120"/>
            <a:ext cx="10883392" cy="478780"/>
          </a:xfrm>
          <a:prstGeom prst="rect">
            <a:avLst/>
          </a:prstGeom>
          <a:noFill/>
          <a:ln/>
        </p:spPr>
        <p:txBody>
          <a:bodyPr wrap="square" lIns="0" tIns="0" rIns="0" bIns="0" rtlCol="0" anchor="t">
            <a:normAutofit/>
          </a:bodyPr>
          <a:lstStyle/>
          <a:p>
            <a:pPr marL="0" indent="0" algn="l">
              <a:lnSpc>
                <a:spcPts val="3570"/>
              </a:lnSpc>
              <a:buNone/>
            </a:pPr>
            <a:r>
              <a:rPr lang="en-US" sz="3400" b="1" i="0" kern="0" spc="-100" dirty="0">
                <a:solidFill>
                  <a:srgbClr val="0E1330"/>
                </a:solidFill>
                <a:latin typeface="Archivo" pitchFamily="34" charset="0"/>
                <a:ea typeface="Archivo" pitchFamily="34" charset="-122"/>
                <a:cs typeface="Archivo" pitchFamily="34" charset="-120"/>
              </a:rPr>
              <a:t>Tonight's list, and the reasons</a:t>
            </a:r>
            <a:endParaRPr lang="en-US" sz="3400" dirty="0"/>
          </a:p>
        </p:txBody>
      </p:sp>
      <p:sp>
        <p:nvSpPr>
          <p:cNvPr id="4" name="Text 2"/>
          <p:cNvSpPr/>
          <p:nvPr/>
        </p:nvSpPr>
        <p:spPr>
          <a:xfrm>
            <a:off x="812800" y="1987500"/>
            <a:ext cx="4459446"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3F66"/>
                </a:solidFill>
                <a:latin typeface="Archivo" pitchFamily="34" charset="0"/>
                <a:ea typeface="Archivo" pitchFamily="34" charset="-122"/>
                <a:cs typeface="Archivo" pitchFamily="34" charset="-120"/>
              </a:rPr>
              <a:t>Triage board.</a:t>
            </a:r>
            <a:r>
              <a:rPr lang="en-US" sz="1500" dirty="0">
                <a:solidFill>
                  <a:srgbClr val="3A3F66"/>
                </a:solidFill>
                <a:latin typeface="Archivo" pitchFamily="34" charset="0"/>
                <a:ea typeface="Archivo" pitchFamily="34" charset="-122"/>
                <a:cs typeface="Archivo" pitchFamily="34" charset="-120"/>
              </a:rPr>
              <a:t> Patients ranked by calibrated risk, with tiers tied to the alert threshold.</a:t>
            </a:r>
            <a:endParaRPr lang="en-US" sz="1500" dirty="0"/>
          </a:p>
        </p:txBody>
      </p:sp>
      <p:sp>
        <p:nvSpPr>
          <p:cNvPr id="5" name="Text 3"/>
          <p:cNvSpPr/>
          <p:nvPr/>
        </p:nvSpPr>
        <p:spPr>
          <a:xfrm>
            <a:off x="812800" y="2673300"/>
            <a:ext cx="4459446" cy="8255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3F66"/>
                </a:solidFill>
                <a:latin typeface="Archivo" pitchFamily="34" charset="0"/>
                <a:ea typeface="Archivo" pitchFamily="34" charset="-122"/>
                <a:cs typeface="Archivo" pitchFamily="34" charset="-120"/>
              </a:rPr>
              <a:t>Patient twin.</a:t>
            </a:r>
            <a:r>
              <a:rPr lang="en-US" sz="1500" dirty="0">
                <a:solidFill>
                  <a:srgbClr val="3A3F66"/>
                </a:solidFill>
                <a:latin typeface="Archivo" pitchFamily="34" charset="0"/>
                <a:ea typeface="Archivo" pitchFamily="34" charset="-122"/>
                <a:cs typeface="Archivo" pitchFamily="34" charset="-120"/>
              </a:rPr>
              <a:t> Recorded history, expected profile, uncertainty range, factors behind the flag, and what-if scenarios.</a:t>
            </a:r>
            <a:endParaRPr lang="en-US" sz="1500" dirty="0"/>
          </a:p>
        </p:txBody>
      </p:sp>
      <p:sp>
        <p:nvSpPr>
          <p:cNvPr id="6" name="Text 4"/>
          <p:cNvSpPr/>
          <p:nvPr/>
        </p:nvSpPr>
        <p:spPr>
          <a:xfrm>
            <a:off x="812800" y="3625800"/>
            <a:ext cx="4459446"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3F66"/>
                </a:solidFill>
                <a:latin typeface="Archivo" pitchFamily="34" charset="0"/>
                <a:ea typeface="Archivo" pitchFamily="34" charset="-122"/>
                <a:cs typeface="Archivo" pitchFamily="34" charset="-120"/>
              </a:rPr>
              <a:t>Replay mode.</a:t>
            </a:r>
            <a:r>
              <a:rPr lang="en-US" sz="1500" dirty="0">
                <a:solidFill>
                  <a:srgbClr val="3A3F66"/>
                </a:solidFill>
                <a:latin typeface="Archivo" pitchFamily="34" charset="0"/>
                <a:ea typeface="Archivo" pitchFamily="34" charset="-122"/>
                <a:cs typeface="Archivo" pitchFamily="34" charset="-120"/>
              </a:rPr>
              <a:t> Recorded outcomes stay hidden by default.</a:t>
            </a:r>
            <a:endParaRPr lang="en-US" sz="1500" dirty="0"/>
          </a:p>
        </p:txBody>
      </p:sp>
      <p:sp>
        <p:nvSpPr>
          <p:cNvPr id="7" name="Text 5"/>
          <p:cNvSpPr/>
          <p:nvPr/>
        </p:nvSpPr>
        <p:spPr>
          <a:xfrm>
            <a:off x="5555109" y="1993850"/>
            <a:ext cx="5817741" cy="2654300"/>
          </a:xfrm>
          <a:prstGeom prst="roundRect">
            <a:avLst>
              <a:gd name="adj" fmla="val 1675"/>
            </a:avLst>
          </a:prstGeom>
          <a:solidFill>
            <a:srgbClr val="EAEDF6"/>
          </a:solidFill>
          <a:ln w="12700">
            <a:solidFill>
              <a:srgbClr val="8A8FB8"/>
            </a:solidFill>
            <a:prstDash val="dash"/>
          </a:ln>
        </p:spPr>
        <p:txBody>
          <a:bodyPr wrap="square" lIns="298131" tIns="298131" rIns="298131" bIns="298131" rtlCol="0" anchor="ctr">
            <a:normAutofit/>
          </a:bodyPr>
          <a:lstStyle/>
          <a:p>
            <a:pPr marL="0" indent="0" algn="ctr">
              <a:lnSpc>
                <a:spcPts val="1960"/>
              </a:lnSpc>
              <a:buNone/>
            </a:pPr>
            <a:r>
              <a:rPr lang="en-US" sz="1400" dirty="0">
                <a:solidFill>
                  <a:srgbClr val="4A4F73"/>
                </a:solidFill>
                <a:latin typeface="Archivo" pitchFamily="34" charset="0"/>
                <a:ea typeface="Archivo" pitchFamily="34" charset="-122"/>
                <a:cs typeface="Archivo" pitchFamily="34" charset="-120"/>
              </a:rPr>
              <a:t>[Insert screenshots of the final triage and patient screens]</a:t>
            </a:r>
            <a:endParaRPr lang="en-US" sz="14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F73"/>
                </a:solidFill>
                <a:latin typeface="Spline Sans Mono" pitchFamily="49" charset="0"/>
                <a:ea typeface="Spline Sans Mono" pitchFamily="49" charset="-122"/>
                <a:cs typeface="Spline Sans Mono" pitchFamily="49" charset="-120"/>
              </a:rPr>
              <a:t>NoctTwin · Team AlooDUM · Arka Jain University</a:t>
            </a:r>
            <a:endParaRPr lang="en-US" sz="1200" dirty="0"/>
          </a:p>
        </p:txBody>
      </p:sp>
      <p:pic>
        <p:nvPicPr>
          <p:cNvPr id="10" name="Picture 9">
            <a:extLst>
              <a:ext uri="{FF2B5EF4-FFF2-40B4-BE49-F238E27FC236}">
                <a16:creationId xmlns:a16="http://schemas.microsoft.com/office/drawing/2014/main" id="{680DF0A4-1D4D-758F-3A7E-8538236347CA}"/>
              </a:ext>
            </a:extLst>
          </p:cNvPr>
          <p:cNvPicPr>
            <a:picLocks noChangeAspect="1"/>
          </p:cNvPicPr>
          <p:nvPr/>
        </p:nvPicPr>
        <p:blipFill>
          <a:blip r:embed="rId3"/>
          <a:stretch>
            <a:fillRect/>
          </a:stretch>
        </p:blipFill>
        <p:spPr>
          <a:xfrm>
            <a:off x="5555109" y="1970697"/>
            <a:ext cx="5851547" cy="36572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E4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EF0"/>
                </a:solidFill>
                <a:latin typeface="Spline Sans Mono" pitchFamily="49" charset="0"/>
                <a:ea typeface="Spline Sans Mono" pitchFamily="49" charset="-122"/>
                <a:cs typeface="Spline Sans Mono" pitchFamily="49" charset="-120"/>
              </a:rPr>
              <a:t>Limits and outlook</a:t>
            </a:r>
            <a:endParaRPr lang="en-US" sz="1200" dirty="0"/>
          </a:p>
        </p:txBody>
      </p:sp>
      <p:sp>
        <p:nvSpPr>
          <p:cNvPr id="3" name="Text 1"/>
          <p:cNvSpPr>
            <a:spLocks noGrp="1"/>
          </p:cNvSpPr>
          <p:nvPr>
            <p:ph type="title"/>
          </p:nvPr>
        </p:nvSpPr>
        <p:spPr>
          <a:xfrm>
            <a:off x="812800" y="1280120"/>
            <a:ext cx="10883392" cy="478780"/>
          </a:xfrm>
          <a:prstGeom prst="rect">
            <a:avLst/>
          </a:prstGeom>
          <a:noFill/>
          <a:ln/>
        </p:spPr>
        <p:txBody>
          <a:bodyPr wrap="square" lIns="0" tIns="0" rIns="0" bIns="0" rtlCol="0" anchor="t">
            <a:normAutofit/>
          </a:bodyPr>
          <a:lstStyle/>
          <a:p>
            <a:pPr marL="0" indent="0" algn="l">
              <a:lnSpc>
                <a:spcPts val="3570"/>
              </a:lnSpc>
              <a:buNone/>
            </a:pPr>
            <a:r>
              <a:rPr lang="en-US" sz="3400" b="1" i="0" kern="0" spc="-100" dirty="0">
                <a:solidFill>
                  <a:srgbClr val="F4F6FB"/>
                </a:solidFill>
                <a:latin typeface="Archivo" pitchFamily="34" charset="0"/>
                <a:ea typeface="Archivo" pitchFamily="34" charset="-122"/>
                <a:cs typeface="Archivo" pitchFamily="34" charset="-120"/>
              </a:rPr>
              <a:t>What we state up front, and what comes next</a:t>
            </a:r>
            <a:endParaRPr lang="en-US" sz="3400" dirty="0"/>
          </a:p>
        </p:txBody>
      </p:sp>
      <p:sp>
        <p:nvSpPr>
          <p:cNvPr id="4" name="Shape 2"/>
          <p:cNvSpPr/>
          <p:nvPr/>
        </p:nvSpPr>
        <p:spPr>
          <a:xfrm>
            <a:off x="815975" y="1990675"/>
            <a:ext cx="5175250" cy="1611610"/>
          </a:xfrm>
          <a:prstGeom prst="roundRect">
            <a:avLst>
              <a:gd name="adj" fmla="val 2955"/>
            </a:avLst>
          </a:prstGeom>
          <a:solidFill>
            <a:srgbClr val="272B66"/>
          </a:solidFill>
          <a:ln w="6350">
            <a:solidFill>
              <a:srgbClr val="3B407F"/>
            </a:solidFill>
            <a:prstDash val="solid"/>
          </a:ln>
        </p:spPr>
      </p:sp>
      <p:sp>
        <p:nvSpPr>
          <p:cNvPr id="5" name="Text 3"/>
          <p:cNvSpPr/>
          <p:nvPr/>
        </p:nvSpPr>
        <p:spPr>
          <a:xfrm>
            <a:off x="1047750" y="2222450"/>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6FB"/>
                </a:solidFill>
                <a:latin typeface="Archivo" pitchFamily="34" charset="0"/>
                <a:ea typeface="Archivo" pitchFamily="34" charset="-122"/>
                <a:cs typeface="Archivo" pitchFamily="34" charset="-120"/>
              </a:rPr>
              <a:t>Limits</a:t>
            </a:r>
            <a:endParaRPr lang="en-US" sz="1700" dirty="0"/>
          </a:p>
        </p:txBody>
      </p:sp>
      <p:sp>
        <p:nvSpPr>
          <p:cNvPr id="6" name="Text 4"/>
          <p:cNvSpPr/>
          <p:nvPr/>
        </p:nvSpPr>
        <p:spPr>
          <a:xfrm>
            <a:off x="1047750" y="2570411"/>
            <a:ext cx="4853051" cy="8255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C9CEF0"/>
                </a:solidFill>
                <a:latin typeface="Archivo" pitchFamily="34" charset="0"/>
                <a:ea typeface="Archivo" pitchFamily="34" charset="-122"/>
                <a:cs typeface="Archivo" pitchFamily="34" charset="-120"/>
              </a:rPr>
              <a:t>Hospitalised cohort and a small sample. No external validation. Regimen labels are per patient. What-if effects are assumptions.</a:t>
            </a:r>
            <a:endParaRPr lang="en-US" sz="1400" dirty="0"/>
          </a:p>
        </p:txBody>
      </p:sp>
      <p:sp>
        <p:nvSpPr>
          <p:cNvPr id="7" name="Shape 5"/>
          <p:cNvSpPr/>
          <p:nvPr/>
        </p:nvSpPr>
        <p:spPr>
          <a:xfrm>
            <a:off x="6200775" y="1990675"/>
            <a:ext cx="5175250" cy="1611610"/>
          </a:xfrm>
          <a:prstGeom prst="roundRect">
            <a:avLst>
              <a:gd name="adj" fmla="val 2955"/>
            </a:avLst>
          </a:prstGeom>
          <a:solidFill>
            <a:srgbClr val="272B66"/>
          </a:solidFill>
          <a:ln w="6350">
            <a:solidFill>
              <a:srgbClr val="3B407F"/>
            </a:solidFill>
            <a:prstDash val="solid"/>
          </a:ln>
        </p:spPr>
      </p:sp>
      <p:sp>
        <p:nvSpPr>
          <p:cNvPr id="8" name="Text 6"/>
          <p:cNvSpPr/>
          <p:nvPr/>
        </p:nvSpPr>
        <p:spPr>
          <a:xfrm>
            <a:off x="6432550" y="2222450"/>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6FB"/>
                </a:solidFill>
                <a:latin typeface="Archivo" pitchFamily="34" charset="0"/>
                <a:ea typeface="Archivo" pitchFamily="34" charset="-122"/>
                <a:cs typeface="Archivo" pitchFamily="34" charset="-120"/>
              </a:rPr>
              <a:t>Next steps</a:t>
            </a:r>
            <a:endParaRPr lang="en-US" sz="1700" dirty="0"/>
          </a:p>
        </p:txBody>
      </p:sp>
      <p:sp>
        <p:nvSpPr>
          <p:cNvPr id="9" name="Text 7"/>
          <p:cNvSpPr/>
          <p:nvPr/>
        </p:nvSpPr>
        <p:spPr>
          <a:xfrm>
            <a:off x="6432550" y="2570411"/>
            <a:ext cx="4853051"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C9CEF0"/>
                </a:solidFill>
                <a:latin typeface="Archivo" pitchFamily="34" charset="0"/>
                <a:ea typeface="Archivo" pitchFamily="34" charset="-122"/>
                <a:cs typeface="Archivo" pitchFamily="34" charset="-120"/>
              </a:rPr>
              <a:t>Validate on outpatient and Indian cohorts. Test prospectively. Gather clinician feedback on alert burden.</a:t>
            </a:r>
            <a:endParaRPr lang="en-US" sz="1400" dirty="0"/>
          </a:p>
        </p:txBody>
      </p:sp>
      <p:sp>
        <p:nvSpPr>
          <p:cNvPr id="10" name="Text 8"/>
          <p:cNvSpPr/>
          <p:nvPr/>
        </p:nvSpPr>
        <p:spPr>
          <a:xfrm>
            <a:off x="812800" y="3859461"/>
            <a:ext cx="10464800" cy="26476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CEF0"/>
                </a:solidFill>
                <a:latin typeface="Archivo" pitchFamily="34" charset="0"/>
                <a:ea typeface="Archivo" pitchFamily="34" charset="-122"/>
                <a:cs typeface="Archivo" pitchFamily="34" charset="-120"/>
              </a:rPr>
              <a:t>Code: github.com/abhinavtiwary15/AlooDUM_ArkaJainUniversity · MIT licence · Data: ShanghaiT2DM, CC BY 4.0</a:t>
            </a:r>
            <a:endParaRPr lang="en-US" sz="13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EF0"/>
                </a:solidFill>
                <a:latin typeface="Spline Sans Mono" pitchFamily="49" charset="0"/>
                <a:ea typeface="Spline Sans Mono" pitchFamily="49" charset="-122"/>
                <a:cs typeface="Spline Sans Mono" pitchFamily="49" charset="-120"/>
              </a:rPr>
              <a:t>NoctTwin · Team AlooDUM · Arka Jain University</a:t>
            </a:r>
            <a:endParaRPr lang="en-US" sz="1200" dirty="0"/>
          </a:p>
        </p:txBody>
      </p:sp>
    </p:spTree>
  </p:cSld>
  <p:clrMapOvr>
    <a:masterClrMapping/>
  </p:clrMapOvr>
</p:sld>
</file>

<file path=ppt/theme/theme1.xml><?xml version="1.0" encoding="utf-8"?>
<a:theme xmlns:a="http://schemas.openxmlformats.org/drawingml/2006/main" name="NoctTwin">
  <a:themeElements>
    <a:clrScheme name="NoctTwin">
      <a:dk1>
        <a:srgbClr val="0E1330"/>
      </a:dk1>
      <a:lt1>
        <a:srgbClr val="F7F8FC"/>
      </a:lt1>
      <a:dk2>
        <a:srgbClr val="484C63"/>
      </a:dk2>
      <a:lt2>
        <a:srgbClr val="E0E1E8"/>
      </a:lt2>
      <a:accent1>
        <a:srgbClr val="C9CEF0"/>
      </a:accent1>
      <a:accent2>
        <a:srgbClr val="3A3F66"/>
      </a:accent2>
      <a:accent3>
        <a:srgbClr val="4A4F73"/>
      </a:accent3>
      <a:accent4>
        <a:srgbClr val="272B66"/>
      </a:accent4>
      <a:accent5>
        <a:srgbClr val="1B1E4A"/>
      </a:accent5>
      <a:accent6>
        <a:srgbClr val="9AA0A6"/>
      </a:accent6>
      <a:hlink>
        <a:srgbClr val="0563C1"/>
      </a:hlink>
      <a:folHlink>
        <a:srgbClr val="954F72"/>
      </a:folHlink>
    </a:clrScheme>
    <a:fontScheme name="NoctTwin">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chiv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822</Words>
  <Application>Microsoft Office PowerPoint</Application>
  <PresentationFormat>Widescreen</PresentationFormat>
  <Paragraphs>119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Archivo</vt:lpstr>
      <vt:lpstr>Spline Sans Mono</vt:lpstr>
      <vt:lpstr>Arial</vt:lpstr>
      <vt:lpstr>NoctTwin</vt:lpstr>
      <vt:lpstr>NoctTwin</vt:lpstr>
      <vt:lpstr>Lows that clinic visits miss</vt:lpstr>
      <vt:lpstr>Bedtime risk of a persistent low</vt:lpstr>
      <vt:lpstr>One night, in three moments</vt:lpstr>
      <vt:lpstr>Personal history improves prediction</vt:lpstr>
      <vt:lpstr>Forecast error and uncertainty</vt:lpstr>
      <vt:lpstr>What did not help, reported as found</vt:lpstr>
      <vt:lpstr>Alert burden</vt:lpstr>
      <vt:lpstr>Tonight's list, and the reasons</vt:lpstr>
      <vt:lpstr>What we state up front, and what comes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NoctTwin</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Archivo
Copyright 2020 The Archivo Project Authors (https://github.com/Omnibus-Type/Archivo)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Spline Sans Mono
Copyright 2022 The Spline Sans Mono Project Authors (https://github.com/SorkinType/SplineSansMono)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Abhinav Tiwary</cp:lastModifiedBy>
  <cp:revision>2</cp:revision>
  <dcterms:created xsi:type="dcterms:W3CDTF">2026-10-24T05:38:59Z</dcterms:created>
  <dcterms:modified xsi:type="dcterms:W3CDTF">2026-10-24T05:45:48Z</dcterms:modified>
</cp:coreProperties>
</file>